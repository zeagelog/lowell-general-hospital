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3" d="100"/>
          <a:sy n="113" d="100"/>
        </p:scale>
        <p:origin x="586"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117518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2137"/>
        </a:solidFill>
        <a:effectLst/>
      </p:bgPr>
    </p:bg>
    <p:spTree>
      <p:nvGrpSpPr>
        <p:cNvPr id="1" name=""/>
        <p:cNvGrpSpPr/>
        <p:nvPr/>
      </p:nvGrpSpPr>
      <p:grpSpPr>
        <a:xfrm>
          <a:off x="0" y="0"/>
          <a:ext cx="0" cy="0"/>
          <a:chOff x="0" y="0"/>
          <a:chExt cx="0" cy="0"/>
        </a:xfrm>
      </p:grpSpPr>
      <p:sp>
        <p:nvSpPr>
          <p:cNvPr id="2" name="Shape 0"/>
          <p:cNvSpPr/>
          <p:nvPr/>
        </p:nvSpPr>
        <p:spPr>
          <a:xfrm>
            <a:off x="0" y="0"/>
            <a:ext cx="3474720" cy="5143500"/>
          </a:xfrm>
          <a:prstGeom prst="rect">
            <a:avLst/>
          </a:prstGeom>
          <a:solidFill>
            <a:srgbClr val="028090"/>
          </a:solidFill>
          <a:ln w="12700">
            <a:solidFill>
              <a:srgbClr val="028090"/>
            </a:solidFill>
            <a:prstDash val="solid"/>
          </a:ln>
        </p:spPr>
      </p:sp>
      <p:sp>
        <p:nvSpPr>
          <p:cNvPr id="3" name="Shape 1"/>
          <p:cNvSpPr/>
          <p:nvPr/>
        </p:nvSpPr>
        <p:spPr>
          <a:xfrm>
            <a:off x="0" y="1645920"/>
            <a:ext cx="3474720" cy="1828800"/>
          </a:xfrm>
          <a:prstGeom prst="rect">
            <a:avLst/>
          </a:prstGeom>
          <a:solidFill>
            <a:srgbClr val="02C39A"/>
          </a:solidFill>
          <a:ln w="12700">
            <a:solidFill>
              <a:srgbClr val="02C39A"/>
            </a:solidFill>
            <a:prstDash val="solid"/>
          </a:ln>
        </p:spPr>
      </p:sp>
      <p:sp>
        <p:nvSpPr>
          <p:cNvPr id="4" name="Text 2"/>
          <p:cNvSpPr/>
          <p:nvPr/>
        </p:nvSpPr>
        <p:spPr>
          <a:xfrm>
            <a:off x="274320" y="365760"/>
            <a:ext cx="2926080" cy="1463040"/>
          </a:xfrm>
          <a:prstGeom prst="rect">
            <a:avLst/>
          </a:prstGeom>
          <a:noFill/>
          <a:ln/>
        </p:spPr>
        <p:txBody>
          <a:bodyPr wrap="square" rtlCol="0" anchor="t"/>
          <a:lstStyle/>
          <a:p>
            <a:pPr marL="0" indent="0" algn="l">
              <a:buNone/>
            </a:pPr>
            <a:r>
              <a:rPr lang="en-US" sz="2600" b="1" dirty="0">
                <a:solidFill>
                  <a:srgbClr val="FFFFFF"/>
                </a:solidFill>
                <a:latin typeface="Cambria" pitchFamily="34" charset="0"/>
                <a:ea typeface="Cambria" pitchFamily="34" charset="-122"/>
                <a:cs typeface="Cambria" pitchFamily="34" charset="-120"/>
              </a:rPr>
              <a:t>LOWELL</a:t>
            </a:r>
            <a:endParaRPr lang="en-US" sz="2600" dirty="0"/>
          </a:p>
          <a:p>
            <a:pPr marL="0" indent="0" algn="l">
              <a:buNone/>
            </a:pPr>
            <a:r>
              <a:rPr lang="en-US" sz="2600" b="1" dirty="0">
                <a:solidFill>
                  <a:srgbClr val="FFFFFF"/>
                </a:solidFill>
                <a:latin typeface="Cambria" pitchFamily="34" charset="0"/>
                <a:ea typeface="Cambria" pitchFamily="34" charset="-122"/>
                <a:cs typeface="Cambria" pitchFamily="34" charset="-120"/>
              </a:rPr>
              <a:t>GENERAL</a:t>
            </a:r>
            <a:endParaRPr lang="en-US" sz="2600" dirty="0"/>
          </a:p>
          <a:p>
            <a:pPr marL="0" indent="0" algn="l">
              <a:buNone/>
            </a:pPr>
            <a:r>
              <a:rPr lang="en-US" sz="2600" b="1" dirty="0">
                <a:solidFill>
                  <a:srgbClr val="FFFFFF"/>
                </a:solidFill>
                <a:latin typeface="Cambria" pitchFamily="34" charset="0"/>
                <a:ea typeface="Cambria" pitchFamily="34" charset="-122"/>
                <a:cs typeface="Cambria" pitchFamily="34" charset="-120"/>
              </a:rPr>
              <a:t>HOSPITAL</a:t>
            </a:r>
            <a:endParaRPr lang="en-US" sz="2600" dirty="0"/>
          </a:p>
        </p:txBody>
      </p:sp>
      <p:sp>
        <p:nvSpPr>
          <p:cNvPr id="5" name="Text 3"/>
          <p:cNvSpPr/>
          <p:nvPr/>
        </p:nvSpPr>
        <p:spPr>
          <a:xfrm>
            <a:off x="274320" y="1737360"/>
            <a:ext cx="2926080" cy="1371600"/>
          </a:xfrm>
          <a:prstGeom prst="rect">
            <a:avLst/>
          </a:prstGeom>
          <a:noFill/>
          <a:ln/>
        </p:spPr>
        <p:txBody>
          <a:bodyPr wrap="square" rtlCol="0" anchor="ctr"/>
          <a:lstStyle/>
          <a:p>
            <a:pPr marL="0" indent="0" algn="l">
              <a:buNone/>
            </a:pPr>
            <a:r>
              <a:rPr lang="en-US" sz="1900" b="1" dirty="0">
                <a:solidFill>
                  <a:srgbClr val="0D2137"/>
                </a:solidFill>
                <a:latin typeface="Cambria" pitchFamily="34" charset="0"/>
                <a:ea typeface="Cambria" pitchFamily="34" charset="-122"/>
                <a:cs typeface="Cambria" pitchFamily="34" charset="-120"/>
              </a:rPr>
              <a:t>KPI ANALYSIS</a:t>
            </a:r>
            <a:endParaRPr lang="en-US" sz="1900" dirty="0"/>
          </a:p>
          <a:p>
            <a:pPr marL="0" indent="0" algn="l">
              <a:buNone/>
            </a:pPr>
            <a:r>
              <a:rPr lang="en-US" sz="1900" b="1" dirty="0">
                <a:solidFill>
                  <a:srgbClr val="0D2137"/>
                </a:solidFill>
                <a:latin typeface="Cambria" pitchFamily="34" charset="0"/>
                <a:ea typeface="Cambria" pitchFamily="34" charset="-122"/>
                <a:cs typeface="Cambria" pitchFamily="34" charset="-120"/>
              </a:rPr>
              <a:t>&amp; INSIGHTS</a:t>
            </a:r>
            <a:endParaRPr lang="en-US" sz="1900" dirty="0"/>
          </a:p>
        </p:txBody>
      </p:sp>
      <p:sp>
        <p:nvSpPr>
          <p:cNvPr id="6" name="Text 4"/>
          <p:cNvSpPr/>
          <p:nvPr/>
        </p:nvSpPr>
        <p:spPr>
          <a:xfrm>
            <a:off x="274320" y="3291840"/>
            <a:ext cx="2926080" cy="822960"/>
          </a:xfrm>
          <a:prstGeom prst="rect">
            <a:avLst/>
          </a:prstGeom>
          <a:noFill/>
          <a:ln/>
        </p:spPr>
        <p:txBody>
          <a:bodyPr wrap="square" rtlCol="0" anchor="ctr"/>
          <a:lstStyle/>
          <a:p>
            <a:pPr marL="0" indent="0" algn="l">
              <a:buNone/>
            </a:pPr>
            <a:r>
              <a:rPr lang="en-US" sz="950" dirty="0">
                <a:solidFill>
                  <a:srgbClr val="FFFFFF"/>
                </a:solidFill>
                <a:latin typeface="Calibri" pitchFamily="34" charset="0"/>
                <a:ea typeface="Calibri" pitchFamily="34" charset="-122"/>
                <a:cs typeface="Calibri" pitchFamily="34" charset="-120"/>
              </a:rPr>
              <a:t>Analyzing Patient Safety, Staff Performance</a:t>
            </a:r>
            <a:endParaRPr lang="en-US" sz="950" dirty="0"/>
          </a:p>
          <a:p>
            <a:pPr marL="0" indent="0" algn="l">
              <a:buNone/>
            </a:pPr>
            <a:r>
              <a:rPr lang="en-US" sz="950" dirty="0">
                <a:solidFill>
                  <a:srgbClr val="FFFFFF"/>
                </a:solidFill>
                <a:latin typeface="Calibri" pitchFamily="34" charset="0"/>
                <a:ea typeface="Calibri" pitchFamily="34" charset="-122"/>
                <a:cs typeface="Calibri" pitchFamily="34" charset="-120"/>
              </a:rPr>
              <a:t>&amp; Hospital Capacity (2020–2024)</a:t>
            </a:r>
            <a:endParaRPr lang="en-US" sz="950" dirty="0"/>
          </a:p>
        </p:txBody>
      </p:sp>
      <p:sp>
        <p:nvSpPr>
          <p:cNvPr id="7" name="Text 5"/>
          <p:cNvSpPr/>
          <p:nvPr/>
        </p:nvSpPr>
        <p:spPr>
          <a:xfrm>
            <a:off x="3931920" y="1463040"/>
            <a:ext cx="4754880" cy="320040"/>
          </a:xfrm>
          <a:prstGeom prst="rect">
            <a:avLst/>
          </a:prstGeom>
          <a:noFill/>
          <a:ln/>
        </p:spPr>
        <p:txBody>
          <a:bodyPr wrap="square" lIns="0" tIns="0" rIns="0" bIns="0"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Presented by</a:t>
            </a:r>
            <a:endParaRPr lang="en-US" sz="1000" dirty="0"/>
          </a:p>
        </p:txBody>
      </p:sp>
      <p:sp>
        <p:nvSpPr>
          <p:cNvPr id="8" name="Text 6"/>
          <p:cNvSpPr/>
          <p:nvPr/>
        </p:nvSpPr>
        <p:spPr>
          <a:xfrm>
            <a:off x="3931920" y="1783080"/>
            <a:ext cx="4754880" cy="54864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Lisha Bhowmik</a:t>
            </a:r>
            <a:endParaRPr lang="en-US" sz="2800" dirty="0"/>
          </a:p>
        </p:txBody>
      </p:sp>
      <p:sp>
        <p:nvSpPr>
          <p:cNvPr id="9" name="Text 7"/>
          <p:cNvSpPr/>
          <p:nvPr/>
        </p:nvSpPr>
        <p:spPr>
          <a:xfrm>
            <a:off x="3931920" y="2377440"/>
            <a:ext cx="4754880" cy="320040"/>
          </a:xfrm>
          <a:prstGeom prst="rect">
            <a:avLst/>
          </a:prstGeom>
          <a:noFill/>
          <a:ln/>
        </p:spPr>
        <p:txBody>
          <a:bodyPr wrap="square" lIns="0" tIns="0" rIns="0" bIns="0" rtlCol="0" anchor="ctr"/>
          <a:lstStyle/>
          <a:p>
            <a:pPr marL="0" indent="0">
              <a:buNone/>
            </a:pPr>
            <a:r>
              <a:rPr lang="en-US" sz="1050" dirty="0">
                <a:solidFill>
                  <a:srgbClr val="02C39A"/>
                </a:solidFill>
                <a:latin typeface="Calibri" pitchFamily="34" charset="0"/>
                <a:ea typeface="Calibri" pitchFamily="34" charset="-122"/>
                <a:cs typeface="Calibri" pitchFamily="34" charset="-120"/>
              </a:rPr>
              <a:t>BBA Graduate · Data &amp; Business Analyst</a:t>
            </a:r>
            <a:endParaRPr lang="en-US" sz="1050" dirty="0"/>
          </a:p>
        </p:txBody>
      </p:sp>
      <p:sp>
        <p:nvSpPr>
          <p:cNvPr id="10" name="Shape 8"/>
          <p:cNvSpPr/>
          <p:nvPr/>
        </p:nvSpPr>
        <p:spPr>
          <a:xfrm>
            <a:off x="3931920" y="2788920"/>
            <a:ext cx="4389120" cy="0"/>
          </a:xfrm>
          <a:prstGeom prst="line">
            <a:avLst/>
          </a:prstGeom>
          <a:noFill/>
          <a:ln w="19050">
            <a:solidFill>
              <a:srgbClr val="028090"/>
            </a:solidFill>
            <a:prstDash val="solid"/>
          </a:ln>
        </p:spPr>
      </p:sp>
      <p:sp>
        <p:nvSpPr>
          <p:cNvPr id="11" name="Text 9"/>
          <p:cNvSpPr/>
          <p:nvPr/>
        </p:nvSpPr>
        <p:spPr>
          <a:xfrm>
            <a:off x="3931920" y="2971800"/>
            <a:ext cx="4846320" cy="365760"/>
          </a:xfrm>
          <a:prstGeom prst="rect">
            <a:avLst/>
          </a:prstGeom>
          <a:noFill/>
          <a:ln/>
        </p:spPr>
        <p:txBody>
          <a:bodyPr wrap="square" rtlCol="0" anchor="ctr"/>
          <a:lstStyle/>
          <a:p>
            <a:pPr marL="0" indent="0">
              <a:buNone/>
            </a:pPr>
            <a:r>
              <a:rPr lang="en-US" sz="950" b="1" dirty="0">
                <a:solidFill>
                  <a:srgbClr val="02C39A"/>
                </a:solidFill>
                <a:latin typeface="Calibri" pitchFamily="34" charset="0"/>
                <a:ea typeface="Calibri" pitchFamily="34" charset="-122"/>
                <a:cs typeface="Calibri" pitchFamily="34" charset="-120"/>
              </a:rPr>
              <a:t>Focus Areas  </a:t>
            </a:r>
            <a:r>
              <a:rPr lang="en-US" sz="950" dirty="0">
                <a:solidFill>
                  <a:srgbClr val="AECDD4"/>
                </a:solidFill>
                <a:latin typeface="Calibri" pitchFamily="34" charset="0"/>
                <a:ea typeface="Calibri" pitchFamily="34" charset="-122"/>
                <a:cs typeface="Calibri" pitchFamily="34" charset="-120"/>
              </a:rPr>
              <a:t>Bed Occupancy · Staff Responsiveness · Unassisted Falls</a:t>
            </a:r>
            <a:endParaRPr lang="en-US" sz="950" dirty="0"/>
          </a:p>
        </p:txBody>
      </p:sp>
      <p:sp>
        <p:nvSpPr>
          <p:cNvPr id="12" name="Text 10"/>
          <p:cNvSpPr/>
          <p:nvPr/>
        </p:nvSpPr>
        <p:spPr>
          <a:xfrm>
            <a:off x="3931920" y="3383280"/>
            <a:ext cx="4846320" cy="365760"/>
          </a:xfrm>
          <a:prstGeom prst="rect">
            <a:avLst/>
          </a:prstGeom>
          <a:noFill/>
          <a:ln/>
        </p:spPr>
        <p:txBody>
          <a:bodyPr wrap="square" rtlCol="0" anchor="ctr"/>
          <a:lstStyle/>
          <a:p>
            <a:pPr marL="0" indent="0">
              <a:buNone/>
            </a:pPr>
            <a:r>
              <a:rPr lang="en-US" sz="950" b="1" dirty="0">
                <a:solidFill>
                  <a:srgbClr val="02C39A"/>
                </a:solidFill>
                <a:latin typeface="Calibri" pitchFamily="34" charset="0"/>
                <a:ea typeface="Calibri" pitchFamily="34" charset="-122"/>
                <a:cs typeface="Calibri" pitchFamily="34" charset="-120"/>
              </a:rPr>
              <a:t>Dataset  </a:t>
            </a:r>
            <a:r>
              <a:rPr lang="en-US" sz="950" dirty="0">
                <a:solidFill>
                  <a:srgbClr val="AECDD4"/>
                </a:solidFill>
                <a:latin typeface="Calibri" pitchFamily="34" charset="0"/>
                <a:ea typeface="Calibri" pitchFamily="34" charset="-122"/>
                <a:cs typeface="Calibri" pitchFamily="34" charset="-120"/>
              </a:rPr>
              <a:t>Monthly data 2020–2024  |  Source: HCAHPS / NDNQI / Internal</a:t>
            </a:r>
            <a:endParaRPr lang="en-US" sz="950" dirty="0"/>
          </a:p>
        </p:txBody>
      </p:sp>
      <p:sp>
        <p:nvSpPr>
          <p:cNvPr id="13" name="Text 11"/>
          <p:cNvSpPr/>
          <p:nvPr/>
        </p:nvSpPr>
        <p:spPr>
          <a:xfrm>
            <a:off x="3931920" y="3749040"/>
            <a:ext cx="4846320" cy="365760"/>
          </a:xfrm>
          <a:prstGeom prst="rect">
            <a:avLst/>
          </a:prstGeom>
          <a:noFill/>
          <a:ln/>
        </p:spPr>
        <p:txBody>
          <a:bodyPr wrap="square" rtlCol="0" anchor="ctr"/>
          <a:lstStyle/>
          <a:p>
            <a:pPr marL="0" indent="0">
              <a:buNone/>
            </a:pPr>
            <a:r>
              <a:rPr lang="en-US" sz="950" b="1" dirty="0">
                <a:solidFill>
                  <a:srgbClr val="02C39A"/>
                </a:solidFill>
                <a:latin typeface="Calibri" pitchFamily="34" charset="0"/>
                <a:ea typeface="Calibri" pitchFamily="34" charset="-122"/>
                <a:cs typeface="Calibri" pitchFamily="34" charset="-120"/>
              </a:rPr>
              <a:t>Tools  </a:t>
            </a:r>
            <a:r>
              <a:rPr lang="en-US" sz="950" dirty="0">
                <a:solidFill>
                  <a:srgbClr val="AECDD4"/>
                </a:solidFill>
                <a:latin typeface="Calibri" pitchFamily="34" charset="0"/>
                <a:ea typeface="Calibri" pitchFamily="34" charset="-122"/>
                <a:cs typeface="Calibri" pitchFamily="34" charset="-120"/>
              </a:rPr>
              <a:t>Python · Pandas · SciPy · Matplotlib</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7F9"/>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28090"/>
          </a:solidFill>
          <a:ln w="12700">
            <a:solidFill>
              <a:srgbClr val="028090"/>
            </a:solidFill>
            <a:prstDash val="solid"/>
          </a:ln>
        </p:spPr>
      </p:sp>
      <p:sp>
        <p:nvSpPr>
          <p:cNvPr id="3" name="Text 1"/>
          <p:cNvSpPr/>
          <p:nvPr/>
        </p:nvSpPr>
        <p:spPr>
          <a:xfrm>
            <a:off x="365760" y="73152"/>
            <a:ext cx="7315200" cy="347472"/>
          </a:xfrm>
          <a:prstGeom prst="rect">
            <a:avLst/>
          </a:prstGeom>
          <a:noFill/>
          <a:ln/>
        </p:spPr>
        <p:txBody>
          <a:bodyPr wrap="square" lIns="0" tIns="0" rIns="0" bIns="0" rtlCol="0" anchor="ctr"/>
          <a:lstStyle/>
          <a:p>
            <a:pPr marL="0" indent="0">
              <a:buNone/>
            </a:pPr>
            <a:r>
              <a:rPr lang="en-US" sz="1300" b="1" kern="0" spc="200" dirty="0">
                <a:solidFill>
                  <a:srgbClr val="FFFFFF"/>
                </a:solidFill>
                <a:latin typeface="Calibri" pitchFamily="34" charset="0"/>
                <a:ea typeface="Calibri" pitchFamily="34" charset="-122"/>
                <a:cs typeface="Calibri" pitchFamily="34" charset="-120"/>
              </a:rPr>
              <a:t>PROBLEM STATEMENT</a:t>
            </a:r>
            <a:endParaRPr lang="en-US" sz="1300" dirty="0"/>
          </a:p>
        </p:txBody>
      </p:sp>
      <p:sp>
        <p:nvSpPr>
          <p:cNvPr id="4" name="Text 2"/>
          <p:cNvSpPr/>
          <p:nvPr/>
        </p:nvSpPr>
        <p:spPr>
          <a:xfrm>
            <a:off x="365760" y="512064"/>
            <a:ext cx="8412480" cy="347472"/>
          </a:xfrm>
          <a:prstGeom prst="rect">
            <a:avLst/>
          </a:prstGeom>
          <a:noFill/>
          <a:ln/>
        </p:spPr>
        <p:txBody>
          <a:bodyPr wrap="square" lIns="0" tIns="0" rIns="0" bIns="0" rtlCol="0" anchor="ctr"/>
          <a:lstStyle/>
          <a:p>
            <a:pPr marL="0" indent="0">
              <a:buNone/>
            </a:pPr>
            <a:r>
              <a:rPr lang="en-US" sz="1100" i="1" dirty="0">
                <a:solidFill>
                  <a:srgbClr val="64748B"/>
                </a:solidFill>
                <a:latin typeface="Calibri" pitchFamily="34" charset="0"/>
                <a:ea typeface="Calibri" pitchFamily="34" charset="-122"/>
                <a:cs typeface="Calibri" pitchFamily="34" charset="-120"/>
              </a:rPr>
              <a:t>What operational challenge is Lowell General Hospital facing?</a:t>
            </a:r>
            <a:endParaRPr lang="en-US" sz="1100" dirty="0"/>
          </a:p>
        </p:txBody>
      </p:sp>
      <p:sp>
        <p:nvSpPr>
          <p:cNvPr id="5" name="Shape 3"/>
          <p:cNvSpPr/>
          <p:nvPr/>
        </p:nvSpPr>
        <p:spPr>
          <a:xfrm>
            <a:off x="365760" y="868680"/>
            <a:ext cx="8412480" cy="658368"/>
          </a:xfrm>
          <a:prstGeom prst="roundRect">
            <a:avLst>
              <a:gd name="adj" fmla="val 11111"/>
            </a:avLst>
          </a:prstGeom>
          <a:solidFill>
            <a:srgbClr val="0D2137"/>
          </a:solidFill>
          <a:ln w="12700">
            <a:solidFill>
              <a:srgbClr val="0D2137"/>
            </a:solidFill>
            <a:prstDash val="solid"/>
          </a:ln>
        </p:spPr>
      </p:sp>
      <p:sp>
        <p:nvSpPr>
          <p:cNvPr id="6" name="Text 4"/>
          <p:cNvSpPr/>
          <p:nvPr/>
        </p:nvSpPr>
        <p:spPr>
          <a:xfrm>
            <a:off x="502920" y="868680"/>
            <a:ext cx="8138160" cy="658368"/>
          </a:xfrm>
          <a:prstGeom prst="rect">
            <a:avLst/>
          </a:prstGeom>
          <a:noFill/>
          <a:ln/>
        </p:spPr>
        <p:txBody>
          <a:bodyPr wrap="square" rtlCol="0" anchor="ctr"/>
          <a:lstStyle/>
          <a:p>
            <a:pPr marL="0" indent="0">
              <a:buNone/>
            </a:pPr>
            <a:r>
              <a:rPr lang="en-US" sz="1000" b="1" dirty="0">
                <a:solidFill>
                  <a:srgbClr val="02C39A"/>
                </a:solidFill>
                <a:latin typeface="Calibri" pitchFamily="34" charset="0"/>
                <a:ea typeface="Calibri" pitchFamily="34" charset="-122"/>
                <a:cs typeface="Calibri" pitchFamily="34" charset="-120"/>
              </a:rPr>
              <a:t>Mission: </a:t>
            </a:r>
            <a:r>
              <a:rPr lang="en-US" sz="1000" dirty="0">
                <a:solidFill>
                  <a:srgbClr val="FFFFFF"/>
                </a:solidFill>
                <a:latin typeface="Calibri" pitchFamily="34" charset="0"/>
                <a:ea typeface="Calibri" pitchFamily="34" charset="-122"/>
                <a:cs typeface="Calibri" pitchFamily="34" charset="-120"/>
              </a:rPr>
              <a:t>Lowell General Hospital is committed to putting patients first in everything we do — monitoring quality, safety, and responsiveness at all times.</a:t>
            </a:r>
            <a:endParaRPr lang="en-US" sz="1000" dirty="0"/>
          </a:p>
        </p:txBody>
      </p:sp>
      <p:sp>
        <p:nvSpPr>
          <p:cNvPr id="7" name="Text 5"/>
          <p:cNvSpPr/>
          <p:nvPr/>
        </p:nvSpPr>
        <p:spPr>
          <a:xfrm>
            <a:off x="365760" y="1664208"/>
            <a:ext cx="3931920" cy="274320"/>
          </a:xfrm>
          <a:prstGeom prst="rect">
            <a:avLst/>
          </a:prstGeom>
          <a:noFill/>
          <a:ln/>
        </p:spPr>
        <p:txBody>
          <a:bodyPr wrap="square" lIns="0" tIns="0" rIns="0" bIns="0" rtlCol="0" anchor="ctr"/>
          <a:lstStyle/>
          <a:p>
            <a:pPr marL="0" indent="0">
              <a:buNone/>
            </a:pPr>
            <a:r>
              <a:rPr lang="en-US" sz="1200" b="1" dirty="0">
                <a:solidFill>
                  <a:srgbClr val="0D2137"/>
                </a:solidFill>
                <a:latin typeface="Calibri" pitchFamily="34" charset="0"/>
                <a:ea typeface="Calibri" pitchFamily="34" charset="-122"/>
                <a:cs typeface="Calibri" pitchFamily="34" charset="-120"/>
              </a:rPr>
              <a:t>The Core Issue</a:t>
            </a:r>
            <a:endParaRPr lang="en-US" sz="1200" dirty="0"/>
          </a:p>
        </p:txBody>
      </p:sp>
      <p:sp>
        <p:nvSpPr>
          <p:cNvPr id="8" name="Text 6"/>
          <p:cNvSpPr/>
          <p:nvPr/>
        </p:nvSpPr>
        <p:spPr>
          <a:xfrm>
            <a:off x="365760" y="1965960"/>
            <a:ext cx="3931920" cy="1188720"/>
          </a:xfrm>
          <a:prstGeom prst="rect">
            <a:avLst/>
          </a:prstGeom>
          <a:noFill/>
          <a:ln/>
        </p:spPr>
        <p:txBody>
          <a:bodyPr wrap="square" rtlCol="0" anchor="t"/>
          <a:lstStyle/>
          <a:p>
            <a:pPr marL="0" indent="0">
              <a:buNone/>
            </a:pPr>
            <a:r>
              <a:rPr lang="en-US" sz="1000" dirty="0">
                <a:solidFill>
                  <a:srgbClr val="64748B"/>
                </a:solidFill>
                <a:latin typeface="Calibri" pitchFamily="34" charset="0"/>
                <a:ea typeface="Calibri" pitchFamily="34" charset="-122"/>
                <a:cs typeface="Calibri" pitchFamily="34" charset="-120"/>
              </a:rPr>
              <a:t>Fluctuating hospital capacity is creating a ripple effect on two critical outcomes:
</a:t>
            </a:r>
            <a:r>
              <a:rPr lang="en-US" sz="1000" b="1" dirty="0">
                <a:solidFill>
                  <a:srgbClr val="028090"/>
                </a:solidFill>
                <a:latin typeface="Calibri" pitchFamily="34" charset="0"/>
                <a:ea typeface="Calibri" pitchFamily="34" charset="-122"/>
                <a:cs typeface="Calibri" pitchFamily="34" charset="-120"/>
              </a:rPr>
              <a:t>① </a:t>
            </a:r>
            <a:r>
              <a:rPr lang="en-US" sz="1000" b="1" dirty="0">
                <a:solidFill>
                  <a:srgbClr val="64748B"/>
                </a:solidFill>
                <a:latin typeface="Calibri" pitchFamily="34" charset="0"/>
                <a:ea typeface="Calibri" pitchFamily="34" charset="-122"/>
                <a:cs typeface="Calibri" pitchFamily="34" charset="-120"/>
              </a:rPr>
              <a:t>Patient dissatisfaction </a:t>
            </a:r>
            <a:r>
              <a:rPr lang="en-US" sz="1000" dirty="0">
                <a:solidFill>
                  <a:srgbClr val="64748B"/>
                </a:solidFill>
                <a:latin typeface="Calibri" pitchFamily="34" charset="0"/>
                <a:ea typeface="Calibri" pitchFamily="34" charset="-122"/>
                <a:cs typeface="Calibri" pitchFamily="34" charset="-120"/>
              </a:rPr>
              <a:t>due to staff being stretched thin
</a:t>
            </a:r>
            <a:r>
              <a:rPr lang="en-US" sz="1000" b="1" dirty="0">
                <a:solidFill>
                  <a:srgbClr val="F4845F"/>
                </a:solidFill>
                <a:latin typeface="Calibri" pitchFamily="34" charset="0"/>
                <a:ea typeface="Calibri" pitchFamily="34" charset="-122"/>
                <a:cs typeface="Calibri" pitchFamily="34" charset="-120"/>
              </a:rPr>
              <a:t>② </a:t>
            </a:r>
            <a:r>
              <a:rPr lang="en-US" sz="1000" b="1" dirty="0">
                <a:solidFill>
                  <a:srgbClr val="64748B"/>
                </a:solidFill>
                <a:latin typeface="Calibri" pitchFamily="34" charset="0"/>
                <a:ea typeface="Calibri" pitchFamily="34" charset="-122"/>
                <a:cs typeface="Calibri" pitchFamily="34" charset="-120"/>
              </a:rPr>
              <a:t>Patient safety risks </a:t>
            </a:r>
            <a:r>
              <a:rPr lang="en-US" sz="1000" dirty="0">
                <a:solidFill>
                  <a:srgbClr val="64748B"/>
                </a:solidFill>
                <a:latin typeface="Calibri" pitchFamily="34" charset="0"/>
                <a:ea typeface="Calibri" pitchFamily="34" charset="-122"/>
                <a:cs typeface="Calibri" pitchFamily="34" charset="-120"/>
              </a:rPr>
              <a:t>from unassisted falls during high-occupancy periods</a:t>
            </a:r>
            <a:endParaRPr lang="en-US" sz="1000" dirty="0"/>
          </a:p>
        </p:txBody>
      </p:sp>
      <p:sp>
        <p:nvSpPr>
          <p:cNvPr id="9" name="Text 7"/>
          <p:cNvSpPr/>
          <p:nvPr/>
        </p:nvSpPr>
        <p:spPr>
          <a:xfrm>
            <a:off x="4572000" y="1664208"/>
            <a:ext cx="4114800" cy="274320"/>
          </a:xfrm>
          <a:prstGeom prst="rect">
            <a:avLst/>
          </a:prstGeom>
          <a:noFill/>
          <a:ln/>
        </p:spPr>
        <p:txBody>
          <a:bodyPr wrap="square" lIns="0" tIns="0" rIns="0" bIns="0" rtlCol="0" anchor="ctr"/>
          <a:lstStyle/>
          <a:p>
            <a:pPr marL="0" indent="0">
              <a:buNone/>
            </a:pPr>
            <a:r>
              <a:rPr lang="en-US" sz="1200" b="1" dirty="0">
                <a:solidFill>
                  <a:srgbClr val="0D2137"/>
                </a:solidFill>
                <a:latin typeface="Calibri" pitchFamily="34" charset="0"/>
                <a:ea typeface="Calibri" pitchFamily="34" charset="-122"/>
                <a:cs typeface="Calibri" pitchFamily="34" charset="-120"/>
              </a:rPr>
              <a:t>Our Objective</a:t>
            </a:r>
            <a:endParaRPr lang="en-US" sz="1200" dirty="0"/>
          </a:p>
        </p:txBody>
      </p:sp>
      <p:sp>
        <p:nvSpPr>
          <p:cNvPr id="10" name="Text 8"/>
          <p:cNvSpPr/>
          <p:nvPr/>
        </p:nvSpPr>
        <p:spPr>
          <a:xfrm>
            <a:off x="4572000" y="1965960"/>
            <a:ext cx="4114800" cy="1005840"/>
          </a:xfrm>
          <a:prstGeom prst="rect">
            <a:avLst/>
          </a:prstGeom>
          <a:noFill/>
          <a:ln/>
        </p:spPr>
        <p:txBody>
          <a:bodyPr wrap="square" rtlCol="0" anchor="t"/>
          <a:lstStyle/>
          <a:p>
            <a:pPr marL="0" indent="0">
              <a:buNone/>
            </a:pPr>
            <a:r>
              <a:rPr lang="en-US" sz="1000" dirty="0">
                <a:solidFill>
                  <a:srgbClr val="64748B"/>
                </a:solidFill>
                <a:latin typeface="Calibri" pitchFamily="34" charset="0"/>
                <a:ea typeface="Calibri" pitchFamily="34" charset="-122"/>
                <a:cs typeface="Calibri" pitchFamily="34" charset="-120"/>
              </a:rPr>
              <a:t>To investigate how hospital crowdedness (bed occupancy) impacts the nursing staff's ability to respond to patients — and whether that leads to preventable patient falls.</a:t>
            </a:r>
            <a:endParaRPr lang="en-US" sz="1000" dirty="0"/>
          </a:p>
        </p:txBody>
      </p:sp>
      <p:sp>
        <p:nvSpPr>
          <p:cNvPr id="11" name="Shape 9"/>
          <p:cNvSpPr/>
          <p:nvPr/>
        </p:nvSpPr>
        <p:spPr>
          <a:xfrm>
            <a:off x="4343400" y="1664208"/>
            <a:ext cx="0" cy="1554480"/>
          </a:xfrm>
          <a:prstGeom prst="line">
            <a:avLst/>
          </a:prstGeom>
          <a:noFill/>
          <a:ln w="12700">
            <a:solidFill>
              <a:srgbClr val="CBD9DB"/>
            </a:solidFill>
            <a:prstDash val="solid"/>
          </a:ln>
        </p:spPr>
      </p:sp>
      <p:sp>
        <p:nvSpPr>
          <p:cNvPr id="12" name="Shape 10"/>
          <p:cNvSpPr/>
          <p:nvPr/>
        </p:nvSpPr>
        <p:spPr>
          <a:xfrm>
            <a:off x="320040" y="3200400"/>
            <a:ext cx="2651760" cy="1691640"/>
          </a:xfrm>
          <a:prstGeom prst="roundRect">
            <a:avLst>
              <a:gd name="adj" fmla="val 4324"/>
            </a:avLst>
          </a:prstGeom>
          <a:solidFill>
            <a:srgbClr val="FFFFFF"/>
          </a:solidFill>
          <a:ln w="12700">
            <a:solidFill>
              <a:srgbClr val="E2EDF0"/>
            </a:solidFill>
            <a:prstDash val="solid"/>
          </a:ln>
          <a:effectLst>
            <a:outerShdw blurRad="101600" dist="38100" dir="2700000" algn="bl" rotWithShape="0">
              <a:srgbClr val="000000">
                <a:alpha val="13000"/>
              </a:srgbClr>
            </a:outerShdw>
          </a:effectLst>
        </p:spPr>
      </p:sp>
      <p:sp>
        <p:nvSpPr>
          <p:cNvPr id="13" name="Shape 11"/>
          <p:cNvSpPr/>
          <p:nvPr/>
        </p:nvSpPr>
        <p:spPr>
          <a:xfrm>
            <a:off x="411480" y="3291840"/>
            <a:ext cx="2468880" cy="256032"/>
          </a:xfrm>
          <a:prstGeom prst="roundRect">
            <a:avLst>
              <a:gd name="adj" fmla="val 14286"/>
            </a:avLst>
          </a:prstGeom>
          <a:solidFill>
            <a:srgbClr val="028090"/>
          </a:solidFill>
          <a:ln w="12700">
            <a:solidFill>
              <a:srgbClr val="028090"/>
            </a:solidFill>
            <a:prstDash val="solid"/>
          </a:ln>
        </p:spPr>
      </p:sp>
      <p:sp>
        <p:nvSpPr>
          <p:cNvPr id="14" name="Text 12"/>
          <p:cNvSpPr/>
          <p:nvPr/>
        </p:nvSpPr>
        <p:spPr>
          <a:xfrm>
            <a:off x="411480" y="3291840"/>
            <a:ext cx="246888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KPI 1  ·  CAPACITY</a:t>
            </a:r>
            <a:endParaRPr lang="en-US" sz="800" dirty="0"/>
          </a:p>
        </p:txBody>
      </p:sp>
      <p:sp>
        <p:nvSpPr>
          <p:cNvPr id="15" name="Text 13"/>
          <p:cNvSpPr/>
          <p:nvPr/>
        </p:nvSpPr>
        <p:spPr>
          <a:xfrm>
            <a:off x="411480" y="3602736"/>
            <a:ext cx="2468880" cy="457200"/>
          </a:xfrm>
          <a:prstGeom prst="rect">
            <a:avLst/>
          </a:prstGeom>
          <a:noFill/>
          <a:ln/>
        </p:spPr>
        <p:txBody>
          <a:bodyPr wrap="square" lIns="0" tIns="0" rIns="0" bIns="0" rtlCol="0" anchor="ctr"/>
          <a:lstStyle/>
          <a:p>
            <a:pPr marL="0" indent="0" algn="ctr">
              <a:buNone/>
            </a:pPr>
            <a:r>
              <a:rPr lang="en-US" sz="2200" b="1" dirty="0">
                <a:solidFill>
                  <a:srgbClr val="0D2137"/>
                </a:solidFill>
                <a:latin typeface="Calibri" pitchFamily="34" charset="0"/>
                <a:ea typeface="Calibri" pitchFamily="34" charset="-122"/>
                <a:cs typeface="Calibri" pitchFamily="34" charset="-120"/>
              </a:rPr>
              <a:t>~96%</a:t>
            </a:r>
            <a:endParaRPr lang="en-US" sz="2200" dirty="0"/>
          </a:p>
        </p:txBody>
      </p:sp>
      <p:sp>
        <p:nvSpPr>
          <p:cNvPr id="16" name="Text 14"/>
          <p:cNvSpPr/>
          <p:nvPr/>
        </p:nvSpPr>
        <p:spPr>
          <a:xfrm>
            <a:off x="457200" y="4069080"/>
            <a:ext cx="2377440" cy="685800"/>
          </a:xfrm>
          <a:prstGeom prst="rect">
            <a:avLst/>
          </a:prstGeom>
          <a:noFill/>
          <a:ln/>
        </p:spPr>
        <p:txBody>
          <a:bodyPr wrap="square" lIns="0" tIns="0" rIns="0" bIns="0" rtlCol="0" anchor="t"/>
          <a:lstStyle/>
          <a:p>
            <a:pPr marL="0" indent="0" algn="l">
              <a:buNone/>
            </a:pPr>
            <a:r>
              <a:rPr lang="en-US" sz="850" dirty="0">
                <a:solidFill>
                  <a:srgbClr val="64748B"/>
                </a:solidFill>
                <a:latin typeface="Calibri" pitchFamily="34" charset="0"/>
                <a:ea typeface="Calibri" pitchFamily="34" charset="-122"/>
                <a:cs typeface="Calibri" pitchFamily="34" charset="-120"/>
              </a:rPr>
              <a:t>Average Licensed Bed Occupancy Rate. Captured internally. Measures the % of licensed beds filled each day.</a:t>
            </a:r>
            <a:endParaRPr lang="en-US" sz="850" dirty="0"/>
          </a:p>
          <a:p>
            <a:pPr marL="0" indent="0" algn="l">
              <a:buNone/>
            </a:pPr>
            <a:endParaRPr lang="en-US" sz="850" dirty="0"/>
          </a:p>
          <a:p>
            <a:pPr marL="0" indent="0" algn="l">
              <a:buNone/>
            </a:pPr>
            <a:r>
              <a:rPr lang="en-US" sz="850" dirty="0">
                <a:solidFill>
                  <a:srgbClr val="64748B"/>
                </a:solidFill>
                <a:latin typeface="Calibri" pitchFamily="34" charset="0"/>
                <a:ea typeface="Calibri" pitchFamily="34" charset="-122"/>
                <a:cs typeface="Calibri" pitchFamily="34" charset="-120"/>
              </a:rPr>
              <a:t>Formula: (Patients in Beds ÷ Licensed Beds) × 100</a:t>
            </a:r>
            <a:endParaRPr lang="en-US" sz="850" dirty="0"/>
          </a:p>
        </p:txBody>
      </p:sp>
      <p:sp>
        <p:nvSpPr>
          <p:cNvPr id="17" name="Shape 15"/>
          <p:cNvSpPr/>
          <p:nvPr/>
        </p:nvSpPr>
        <p:spPr>
          <a:xfrm>
            <a:off x="3154680" y="3200400"/>
            <a:ext cx="2651760" cy="1691640"/>
          </a:xfrm>
          <a:prstGeom prst="roundRect">
            <a:avLst>
              <a:gd name="adj" fmla="val 4324"/>
            </a:avLst>
          </a:prstGeom>
          <a:solidFill>
            <a:srgbClr val="FFFFFF"/>
          </a:solidFill>
          <a:ln w="12700">
            <a:solidFill>
              <a:srgbClr val="E2EDF0"/>
            </a:solidFill>
            <a:prstDash val="solid"/>
          </a:ln>
          <a:effectLst>
            <a:outerShdw blurRad="101600" dist="38100" dir="2700000" algn="bl" rotWithShape="0">
              <a:srgbClr val="000000">
                <a:alpha val="13000"/>
              </a:srgbClr>
            </a:outerShdw>
          </a:effectLst>
        </p:spPr>
      </p:sp>
      <p:sp>
        <p:nvSpPr>
          <p:cNvPr id="18" name="Shape 16"/>
          <p:cNvSpPr/>
          <p:nvPr/>
        </p:nvSpPr>
        <p:spPr>
          <a:xfrm>
            <a:off x="3246120" y="3291840"/>
            <a:ext cx="2468880" cy="256032"/>
          </a:xfrm>
          <a:prstGeom prst="roundRect">
            <a:avLst>
              <a:gd name="adj" fmla="val 14286"/>
            </a:avLst>
          </a:prstGeom>
          <a:solidFill>
            <a:srgbClr val="0D2137"/>
          </a:solidFill>
          <a:ln w="12700">
            <a:solidFill>
              <a:srgbClr val="0D2137"/>
            </a:solidFill>
            <a:prstDash val="solid"/>
          </a:ln>
        </p:spPr>
      </p:sp>
      <p:sp>
        <p:nvSpPr>
          <p:cNvPr id="19" name="Text 17"/>
          <p:cNvSpPr/>
          <p:nvPr/>
        </p:nvSpPr>
        <p:spPr>
          <a:xfrm>
            <a:off x="3246120" y="3291840"/>
            <a:ext cx="246888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KPI 2  ·  SATISFACTION</a:t>
            </a:r>
            <a:endParaRPr lang="en-US" sz="800" dirty="0"/>
          </a:p>
        </p:txBody>
      </p:sp>
      <p:sp>
        <p:nvSpPr>
          <p:cNvPr id="20" name="Text 18"/>
          <p:cNvSpPr/>
          <p:nvPr/>
        </p:nvSpPr>
        <p:spPr>
          <a:xfrm>
            <a:off x="3246120" y="3602736"/>
            <a:ext cx="2468880" cy="457200"/>
          </a:xfrm>
          <a:prstGeom prst="rect">
            <a:avLst/>
          </a:prstGeom>
          <a:noFill/>
          <a:ln/>
        </p:spPr>
        <p:txBody>
          <a:bodyPr wrap="square" lIns="0" tIns="0" rIns="0" bIns="0" rtlCol="0" anchor="ctr"/>
          <a:lstStyle/>
          <a:p>
            <a:pPr marL="0" indent="0" algn="ctr">
              <a:buNone/>
            </a:pPr>
            <a:r>
              <a:rPr lang="en-US" sz="2200" b="1" dirty="0">
                <a:solidFill>
                  <a:srgbClr val="0D2137"/>
                </a:solidFill>
                <a:latin typeface="Calibri" pitchFamily="34" charset="0"/>
                <a:ea typeface="Calibri" pitchFamily="34" charset="-122"/>
                <a:cs typeface="Calibri" pitchFamily="34" charset="-120"/>
              </a:rPr>
              <a:t>63%</a:t>
            </a:r>
            <a:endParaRPr lang="en-US" sz="2200" dirty="0"/>
          </a:p>
        </p:txBody>
      </p:sp>
      <p:sp>
        <p:nvSpPr>
          <p:cNvPr id="21" name="Text 19"/>
          <p:cNvSpPr/>
          <p:nvPr/>
        </p:nvSpPr>
        <p:spPr>
          <a:xfrm>
            <a:off x="3291840" y="4069080"/>
            <a:ext cx="2377440" cy="685800"/>
          </a:xfrm>
          <a:prstGeom prst="rect">
            <a:avLst/>
          </a:prstGeom>
          <a:noFill/>
          <a:ln/>
        </p:spPr>
        <p:txBody>
          <a:bodyPr wrap="square" lIns="0" tIns="0" rIns="0" bIns="0" rtlCol="0" anchor="t"/>
          <a:lstStyle/>
          <a:p>
            <a:pPr marL="0" indent="0" algn="l">
              <a:buNone/>
            </a:pPr>
            <a:r>
              <a:rPr lang="en-US" sz="850" dirty="0">
                <a:solidFill>
                  <a:srgbClr val="64748B"/>
                </a:solidFill>
                <a:latin typeface="Calibri" pitchFamily="34" charset="0"/>
                <a:ea typeface="Calibri" pitchFamily="34" charset="-122"/>
                <a:cs typeface="Calibri" pitchFamily="34" charset="-120"/>
              </a:rPr>
              <a:t>Staff Responsiveness Top Box Score. From HCAHPS Survey — patients rating call-button and bathroom help as 'Always' received.</a:t>
            </a:r>
            <a:endParaRPr lang="en-US" sz="850" dirty="0"/>
          </a:p>
          <a:p>
            <a:pPr marL="0" indent="0" algn="l">
              <a:buNone/>
            </a:pPr>
            <a:endParaRPr lang="en-US" sz="850" dirty="0"/>
          </a:p>
          <a:p>
            <a:pPr marL="0" indent="0" algn="l">
              <a:buNone/>
            </a:pPr>
            <a:r>
              <a:rPr lang="en-US" sz="850" dirty="0">
                <a:solidFill>
                  <a:srgbClr val="64748B"/>
                </a:solidFill>
                <a:latin typeface="Calibri" pitchFamily="34" charset="0"/>
                <a:ea typeface="Calibri" pitchFamily="34" charset="-122"/>
                <a:cs typeface="Calibri" pitchFamily="34" charset="-120"/>
              </a:rPr>
              <a:t>Benchmark: 65%</a:t>
            </a:r>
            <a:endParaRPr lang="en-US" sz="850" dirty="0"/>
          </a:p>
        </p:txBody>
      </p:sp>
      <p:sp>
        <p:nvSpPr>
          <p:cNvPr id="22" name="Shape 20"/>
          <p:cNvSpPr/>
          <p:nvPr/>
        </p:nvSpPr>
        <p:spPr>
          <a:xfrm>
            <a:off x="5989320" y="3200400"/>
            <a:ext cx="2651760" cy="1691640"/>
          </a:xfrm>
          <a:prstGeom prst="roundRect">
            <a:avLst>
              <a:gd name="adj" fmla="val 4324"/>
            </a:avLst>
          </a:prstGeom>
          <a:solidFill>
            <a:srgbClr val="FFFFFF"/>
          </a:solidFill>
          <a:ln w="12700">
            <a:solidFill>
              <a:srgbClr val="E2EDF0"/>
            </a:solidFill>
            <a:prstDash val="solid"/>
          </a:ln>
          <a:effectLst>
            <a:outerShdw blurRad="101600" dist="38100" dir="2700000" algn="bl" rotWithShape="0">
              <a:srgbClr val="000000">
                <a:alpha val="13000"/>
              </a:srgbClr>
            </a:outerShdw>
          </a:effectLst>
        </p:spPr>
      </p:sp>
      <p:sp>
        <p:nvSpPr>
          <p:cNvPr id="23" name="Shape 21"/>
          <p:cNvSpPr/>
          <p:nvPr/>
        </p:nvSpPr>
        <p:spPr>
          <a:xfrm>
            <a:off x="6080760" y="3291840"/>
            <a:ext cx="2468880" cy="256032"/>
          </a:xfrm>
          <a:prstGeom prst="roundRect">
            <a:avLst>
              <a:gd name="adj" fmla="val 14286"/>
            </a:avLst>
          </a:prstGeom>
          <a:solidFill>
            <a:srgbClr val="F4845F"/>
          </a:solidFill>
          <a:ln w="12700">
            <a:solidFill>
              <a:srgbClr val="F4845F"/>
            </a:solidFill>
            <a:prstDash val="solid"/>
          </a:ln>
        </p:spPr>
      </p:sp>
      <p:sp>
        <p:nvSpPr>
          <p:cNvPr id="24" name="Text 22"/>
          <p:cNvSpPr/>
          <p:nvPr/>
        </p:nvSpPr>
        <p:spPr>
          <a:xfrm>
            <a:off x="6080760" y="3291840"/>
            <a:ext cx="246888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KPI 3  ·  SAFETY</a:t>
            </a:r>
            <a:endParaRPr lang="en-US" sz="800" dirty="0"/>
          </a:p>
        </p:txBody>
      </p:sp>
      <p:sp>
        <p:nvSpPr>
          <p:cNvPr id="25" name="Text 23"/>
          <p:cNvSpPr/>
          <p:nvPr/>
        </p:nvSpPr>
        <p:spPr>
          <a:xfrm>
            <a:off x="6080760" y="3602736"/>
            <a:ext cx="2468880" cy="457200"/>
          </a:xfrm>
          <a:prstGeom prst="rect">
            <a:avLst/>
          </a:prstGeom>
          <a:noFill/>
          <a:ln/>
        </p:spPr>
        <p:txBody>
          <a:bodyPr wrap="square" lIns="0" tIns="0" rIns="0" bIns="0" rtlCol="0" anchor="ctr"/>
          <a:lstStyle/>
          <a:p>
            <a:pPr marL="0" indent="0" algn="ctr">
              <a:buNone/>
            </a:pPr>
            <a:r>
              <a:rPr lang="en-US" sz="2200" b="1" dirty="0">
                <a:solidFill>
                  <a:srgbClr val="0D2137"/>
                </a:solidFill>
                <a:latin typeface="Calibri" pitchFamily="34" charset="0"/>
                <a:ea typeface="Calibri" pitchFamily="34" charset="-122"/>
                <a:cs typeface="Calibri" pitchFamily="34" charset="-120"/>
              </a:rPr>
              <a:t>2.60</a:t>
            </a:r>
            <a:endParaRPr lang="en-US" sz="2200" dirty="0"/>
          </a:p>
        </p:txBody>
      </p:sp>
      <p:sp>
        <p:nvSpPr>
          <p:cNvPr id="26" name="Text 24"/>
          <p:cNvSpPr/>
          <p:nvPr/>
        </p:nvSpPr>
        <p:spPr>
          <a:xfrm>
            <a:off x="6126480" y="4069080"/>
            <a:ext cx="2377440" cy="685800"/>
          </a:xfrm>
          <a:prstGeom prst="rect">
            <a:avLst/>
          </a:prstGeom>
          <a:noFill/>
          <a:ln/>
        </p:spPr>
        <p:txBody>
          <a:bodyPr wrap="square" lIns="0" tIns="0" rIns="0" bIns="0" rtlCol="0" anchor="t"/>
          <a:lstStyle/>
          <a:p>
            <a:pPr marL="0" indent="0" algn="l">
              <a:buNone/>
            </a:pPr>
            <a:r>
              <a:rPr lang="en-US" sz="850" dirty="0">
                <a:solidFill>
                  <a:srgbClr val="64748B"/>
                </a:solidFill>
                <a:latin typeface="Calibri" pitchFamily="34" charset="0"/>
                <a:ea typeface="Calibri" pitchFamily="34" charset="-122"/>
                <a:cs typeface="Calibri" pitchFamily="34" charset="-120"/>
              </a:rPr>
              <a:t>Unassisted Patient Falls per 1,000 Patient Days. Captured by NDNQI — falls with no staff present to assist.</a:t>
            </a:r>
            <a:endParaRPr lang="en-US" sz="850" dirty="0"/>
          </a:p>
          <a:p>
            <a:pPr marL="0" indent="0" algn="l">
              <a:buNone/>
            </a:pPr>
            <a:endParaRPr lang="en-US" sz="850" dirty="0"/>
          </a:p>
          <a:p>
            <a:pPr marL="0" indent="0" algn="l">
              <a:buNone/>
            </a:pPr>
            <a:r>
              <a:rPr lang="en-US" sz="850" dirty="0">
                <a:solidFill>
                  <a:srgbClr val="64748B"/>
                </a:solidFill>
                <a:latin typeface="Calibri" pitchFamily="34" charset="0"/>
                <a:ea typeface="Calibri" pitchFamily="34" charset="-122"/>
                <a:cs typeface="Calibri" pitchFamily="34" charset="-120"/>
              </a:rPr>
              <a:t>Formula: (Falls ÷ Patient Days) × 1,000</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7F9"/>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28090"/>
          </a:solidFill>
          <a:ln w="12700">
            <a:solidFill>
              <a:srgbClr val="028090"/>
            </a:solidFill>
            <a:prstDash val="solid"/>
          </a:ln>
        </p:spPr>
      </p:sp>
      <p:sp>
        <p:nvSpPr>
          <p:cNvPr id="3" name="Text 1"/>
          <p:cNvSpPr/>
          <p:nvPr/>
        </p:nvSpPr>
        <p:spPr>
          <a:xfrm>
            <a:off x="365760" y="73152"/>
            <a:ext cx="7315200" cy="347472"/>
          </a:xfrm>
          <a:prstGeom prst="rect">
            <a:avLst/>
          </a:prstGeom>
          <a:noFill/>
          <a:ln/>
        </p:spPr>
        <p:txBody>
          <a:bodyPr wrap="square" lIns="0" tIns="0" rIns="0" bIns="0" rtlCol="0" anchor="ctr"/>
          <a:lstStyle/>
          <a:p>
            <a:pPr marL="0" indent="0">
              <a:buNone/>
            </a:pPr>
            <a:r>
              <a:rPr lang="en-US" sz="1300" b="1" kern="0" spc="200" dirty="0">
                <a:solidFill>
                  <a:srgbClr val="FFFFFF"/>
                </a:solidFill>
                <a:latin typeface="Calibri" pitchFamily="34" charset="0"/>
                <a:ea typeface="Calibri" pitchFamily="34" charset="-122"/>
                <a:cs typeface="Calibri" pitchFamily="34" charset="-120"/>
              </a:rPr>
              <a:t>UNDERSTANDING THE KPIS</a:t>
            </a:r>
            <a:endParaRPr lang="en-US" sz="1300" dirty="0"/>
          </a:p>
        </p:txBody>
      </p:sp>
      <p:sp>
        <p:nvSpPr>
          <p:cNvPr id="4" name="Text 2"/>
          <p:cNvSpPr/>
          <p:nvPr/>
        </p:nvSpPr>
        <p:spPr>
          <a:xfrm>
            <a:off x="365760" y="512064"/>
            <a:ext cx="8412480" cy="347472"/>
          </a:xfrm>
          <a:prstGeom prst="rect">
            <a:avLst/>
          </a:prstGeom>
          <a:noFill/>
          <a:ln/>
        </p:spPr>
        <p:txBody>
          <a:bodyPr wrap="square" lIns="0" tIns="0" rIns="0" bIns="0" rtlCol="0" anchor="ctr"/>
          <a:lstStyle/>
          <a:p>
            <a:pPr marL="0" indent="0">
              <a:buNone/>
            </a:pPr>
            <a:r>
              <a:rPr lang="en-US" sz="1100" i="1" dirty="0">
                <a:solidFill>
                  <a:srgbClr val="64748B"/>
                </a:solidFill>
                <a:latin typeface="Calibri" pitchFamily="34" charset="0"/>
                <a:ea typeface="Calibri" pitchFamily="34" charset="-122"/>
                <a:cs typeface="Calibri" pitchFamily="34" charset="-120"/>
              </a:rPr>
              <a:t>Key terms, formulas, and data sources explained</a:t>
            </a:r>
            <a:endParaRPr lang="en-US" sz="1100" dirty="0"/>
          </a:p>
        </p:txBody>
      </p:sp>
      <p:sp>
        <p:nvSpPr>
          <p:cNvPr id="5" name="Shape 3"/>
          <p:cNvSpPr/>
          <p:nvPr/>
        </p:nvSpPr>
        <p:spPr>
          <a:xfrm>
            <a:off x="260604" y="859536"/>
            <a:ext cx="2788920" cy="4069080"/>
          </a:xfrm>
          <a:prstGeom prst="roundRect">
            <a:avLst>
              <a:gd name="adj" fmla="val 2623"/>
            </a:avLst>
          </a:prstGeom>
          <a:solidFill>
            <a:srgbClr val="FFFFFF"/>
          </a:solidFill>
          <a:ln w="12700">
            <a:solidFill>
              <a:srgbClr val="DDEAED"/>
            </a:solidFill>
            <a:prstDash val="solid"/>
          </a:ln>
          <a:effectLst>
            <a:outerShdw blurRad="101600" dist="38100" dir="2700000" algn="bl" rotWithShape="0">
              <a:srgbClr val="000000">
                <a:alpha val="13000"/>
              </a:srgbClr>
            </a:outerShdw>
          </a:effectLst>
        </p:spPr>
      </p:sp>
      <p:sp>
        <p:nvSpPr>
          <p:cNvPr id="6" name="Shape 4"/>
          <p:cNvSpPr/>
          <p:nvPr/>
        </p:nvSpPr>
        <p:spPr>
          <a:xfrm>
            <a:off x="347472" y="932688"/>
            <a:ext cx="2642616" cy="292608"/>
          </a:xfrm>
          <a:prstGeom prst="roundRect">
            <a:avLst>
              <a:gd name="adj" fmla="val 12500"/>
            </a:avLst>
          </a:prstGeom>
          <a:solidFill>
            <a:srgbClr val="028090"/>
          </a:solidFill>
          <a:ln w="12700">
            <a:solidFill>
              <a:srgbClr val="028090"/>
            </a:solidFill>
            <a:prstDash val="solid"/>
          </a:ln>
        </p:spPr>
      </p:sp>
      <p:sp>
        <p:nvSpPr>
          <p:cNvPr id="7" name="Text 5"/>
          <p:cNvSpPr/>
          <p:nvPr/>
        </p:nvSpPr>
        <p:spPr>
          <a:xfrm>
            <a:off x="347472" y="932688"/>
            <a:ext cx="2642616" cy="292608"/>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Average Licensed Bed Occupancy Rate</a:t>
            </a:r>
            <a:endParaRPr lang="en-US" sz="750" dirty="0"/>
          </a:p>
        </p:txBody>
      </p:sp>
      <p:sp>
        <p:nvSpPr>
          <p:cNvPr id="8" name="Text 6"/>
          <p:cNvSpPr/>
          <p:nvPr/>
        </p:nvSpPr>
        <p:spPr>
          <a:xfrm>
            <a:off x="384048" y="1261872"/>
            <a:ext cx="2560320" cy="219456"/>
          </a:xfrm>
          <a:prstGeom prst="rect">
            <a:avLst/>
          </a:prstGeom>
          <a:noFill/>
          <a:ln/>
        </p:spPr>
        <p:txBody>
          <a:bodyPr wrap="square" lIns="0" tIns="0" rIns="0" bIns="0" rtlCol="0" anchor="ctr"/>
          <a:lstStyle/>
          <a:p>
            <a:pPr marL="0" indent="0">
              <a:buNone/>
            </a:pPr>
            <a:r>
              <a:rPr lang="en-US" sz="750" i="1" dirty="0">
                <a:solidFill>
                  <a:srgbClr val="028090"/>
                </a:solidFill>
                <a:latin typeface="Calibri" pitchFamily="34" charset="0"/>
                <a:ea typeface="Calibri" pitchFamily="34" charset="-122"/>
                <a:cs typeface="Calibri" pitchFamily="34" charset="-120"/>
              </a:rPr>
              <a:t>Source: Internal Hospital Records</a:t>
            </a:r>
            <a:endParaRPr lang="en-US" sz="750" dirty="0"/>
          </a:p>
        </p:txBody>
      </p:sp>
      <p:sp>
        <p:nvSpPr>
          <p:cNvPr id="9" name="Shape 7"/>
          <p:cNvSpPr/>
          <p:nvPr/>
        </p:nvSpPr>
        <p:spPr>
          <a:xfrm>
            <a:off x="365760" y="1508760"/>
            <a:ext cx="2578608" cy="512064"/>
          </a:xfrm>
          <a:prstGeom prst="roundRect">
            <a:avLst>
              <a:gd name="adj" fmla="val 7143"/>
            </a:avLst>
          </a:prstGeom>
          <a:solidFill>
            <a:srgbClr val="F0F7F9"/>
          </a:solidFill>
          <a:ln w="12700">
            <a:solidFill>
              <a:srgbClr val="CBD9DB"/>
            </a:solidFill>
            <a:prstDash val="solid"/>
          </a:ln>
        </p:spPr>
      </p:sp>
      <p:sp>
        <p:nvSpPr>
          <p:cNvPr id="10" name="Text 8"/>
          <p:cNvSpPr/>
          <p:nvPr/>
        </p:nvSpPr>
        <p:spPr>
          <a:xfrm>
            <a:off x="384048" y="1517904"/>
            <a:ext cx="2542032" cy="493776"/>
          </a:xfrm>
          <a:prstGeom prst="rect">
            <a:avLst/>
          </a:prstGeom>
          <a:noFill/>
          <a:ln/>
        </p:spPr>
        <p:txBody>
          <a:bodyPr wrap="square" rtlCol="0" anchor="ctr"/>
          <a:lstStyle/>
          <a:p>
            <a:pPr marL="0" indent="0">
              <a:buNone/>
            </a:pPr>
            <a:r>
              <a:rPr lang="en-US" sz="750" b="1" dirty="0">
                <a:solidFill>
                  <a:srgbClr val="0D2137"/>
                </a:solidFill>
                <a:latin typeface="Calibri" pitchFamily="34" charset="0"/>
                <a:ea typeface="Calibri" pitchFamily="34" charset="-122"/>
                <a:cs typeface="Calibri" pitchFamily="34" charset="-120"/>
              </a:rPr>
              <a:t>Formula: </a:t>
            </a:r>
            <a:r>
              <a:rPr lang="en-US" sz="750" dirty="0">
                <a:solidFill>
                  <a:srgbClr val="64748B"/>
                </a:solidFill>
                <a:latin typeface="Calibri" pitchFamily="34" charset="0"/>
                <a:ea typeface="Calibri" pitchFamily="34" charset="-122"/>
                <a:cs typeface="Calibri" pitchFamily="34" charset="-120"/>
              </a:rPr>
              <a:t>(No. of Patients in Licensed Beds per Day ÷ No. of Licensed Beds) × 100</a:t>
            </a:r>
            <a:endParaRPr lang="en-US" sz="750" dirty="0"/>
          </a:p>
        </p:txBody>
      </p:sp>
      <p:sp>
        <p:nvSpPr>
          <p:cNvPr id="11" name="Text 9"/>
          <p:cNvSpPr/>
          <p:nvPr/>
        </p:nvSpPr>
        <p:spPr>
          <a:xfrm>
            <a:off x="384048" y="2075688"/>
            <a:ext cx="2560320" cy="2743200"/>
          </a:xfrm>
          <a:prstGeom prst="rect">
            <a:avLst/>
          </a:prstGeom>
          <a:noFill/>
          <a:ln/>
        </p:spPr>
        <p:txBody>
          <a:bodyPr wrap="square" rtlCol="0" anchor="t"/>
          <a:lstStyle/>
          <a:p>
            <a:pPr marL="0" indent="0">
              <a:buNone/>
            </a:pPr>
            <a:r>
              <a:rPr lang="en-US" sz="800" dirty="0">
                <a:solidFill>
                  <a:srgbClr val="64748B"/>
                </a:solidFill>
                <a:latin typeface="Calibri" pitchFamily="34" charset="0"/>
                <a:ea typeface="Calibri" pitchFamily="34" charset="-122"/>
                <a:cs typeface="Calibri" pitchFamily="34" charset="-120"/>
              </a:rPr>
              <a:t>A licensed bed is a hospital bed officially approved for patient use by regulatory authorities. This KPI tells us what percentage of those beds are occupied on any given day.</a:t>
            </a:r>
            <a:endParaRPr lang="en-US" sz="800" dirty="0"/>
          </a:p>
          <a:p>
            <a:pPr marL="0" indent="0">
              <a:buNone/>
            </a:pPr>
            <a:endParaRPr lang="en-US" sz="800" dirty="0"/>
          </a:p>
          <a:p>
            <a:pPr marL="0" indent="0">
              <a:buNone/>
            </a:pPr>
            <a:r>
              <a:rPr lang="en-US" sz="800" dirty="0">
                <a:solidFill>
                  <a:srgbClr val="64748B"/>
                </a:solidFill>
                <a:latin typeface="Calibri" pitchFamily="34" charset="0"/>
                <a:ea typeface="Calibri" pitchFamily="34" charset="-122"/>
                <a:cs typeface="Calibri" pitchFamily="34" charset="-120"/>
              </a:rPr>
              <a:t>Why it matters: When occupancy approaches or exceeds 95%, the hospital is operating at near-maximum capacity. This leaves little room to handle surges, puts pressure on all departments, and directly stretches nursing staff — making it harder to respond quickly to patient calls.</a:t>
            </a:r>
            <a:endParaRPr lang="en-US" sz="800" dirty="0"/>
          </a:p>
        </p:txBody>
      </p:sp>
      <p:sp>
        <p:nvSpPr>
          <p:cNvPr id="12" name="Shape 10"/>
          <p:cNvSpPr/>
          <p:nvPr/>
        </p:nvSpPr>
        <p:spPr>
          <a:xfrm>
            <a:off x="3200400" y="868680"/>
            <a:ext cx="2788920" cy="4069080"/>
          </a:xfrm>
          <a:prstGeom prst="roundRect">
            <a:avLst>
              <a:gd name="adj" fmla="val 2623"/>
            </a:avLst>
          </a:prstGeom>
          <a:solidFill>
            <a:srgbClr val="FFFFFF"/>
          </a:solidFill>
          <a:ln w="12700">
            <a:solidFill>
              <a:srgbClr val="DDEAED"/>
            </a:solidFill>
            <a:prstDash val="solid"/>
          </a:ln>
          <a:effectLst>
            <a:outerShdw blurRad="101600" dist="38100" dir="2700000" algn="bl" rotWithShape="0">
              <a:srgbClr val="000000">
                <a:alpha val="13000"/>
              </a:srgbClr>
            </a:outerShdw>
          </a:effectLst>
        </p:spPr>
      </p:sp>
      <p:sp>
        <p:nvSpPr>
          <p:cNvPr id="13" name="Shape 11"/>
          <p:cNvSpPr/>
          <p:nvPr/>
        </p:nvSpPr>
        <p:spPr>
          <a:xfrm>
            <a:off x="3273552" y="932688"/>
            <a:ext cx="2642616" cy="292608"/>
          </a:xfrm>
          <a:prstGeom prst="roundRect">
            <a:avLst>
              <a:gd name="adj" fmla="val 12500"/>
            </a:avLst>
          </a:prstGeom>
          <a:solidFill>
            <a:srgbClr val="0D2137"/>
          </a:solidFill>
          <a:ln w="12700">
            <a:solidFill>
              <a:srgbClr val="0D2137"/>
            </a:solidFill>
            <a:prstDash val="solid"/>
          </a:ln>
        </p:spPr>
      </p:sp>
      <p:sp>
        <p:nvSpPr>
          <p:cNvPr id="14" name="Text 12"/>
          <p:cNvSpPr/>
          <p:nvPr/>
        </p:nvSpPr>
        <p:spPr>
          <a:xfrm>
            <a:off x="3273552" y="932688"/>
            <a:ext cx="2642616" cy="292608"/>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Staff Responsiveness Top Box Score</a:t>
            </a:r>
            <a:endParaRPr lang="en-US" sz="750" dirty="0"/>
          </a:p>
        </p:txBody>
      </p:sp>
      <p:sp>
        <p:nvSpPr>
          <p:cNvPr id="15" name="Text 13"/>
          <p:cNvSpPr/>
          <p:nvPr/>
        </p:nvSpPr>
        <p:spPr>
          <a:xfrm>
            <a:off x="3310128" y="1261872"/>
            <a:ext cx="2560320" cy="219456"/>
          </a:xfrm>
          <a:prstGeom prst="rect">
            <a:avLst/>
          </a:prstGeom>
          <a:noFill/>
          <a:ln/>
        </p:spPr>
        <p:txBody>
          <a:bodyPr wrap="square" lIns="0" tIns="0" rIns="0" bIns="0" rtlCol="0" anchor="ctr"/>
          <a:lstStyle/>
          <a:p>
            <a:pPr marL="0" indent="0">
              <a:buNone/>
            </a:pPr>
            <a:r>
              <a:rPr lang="en-US" sz="750" i="1" dirty="0">
                <a:solidFill>
                  <a:srgbClr val="028090"/>
                </a:solidFill>
                <a:latin typeface="Calibri" pitchFamily="34" charset="0"/>
                <a:ea typeface="Calibri" pitchFamily="34" charset="-122"/>
                <a:cs typeface="Calibri" pitchFamily="34" charset="-120"/>
              </a:rPr>
              <a:t>Source: HCAHPS Survey (post-discharge)</a:t>
            </a:r>
            <a:endParaRPr lang="en-US" sz="750" dirty="0"/>
          </a:p>
        </p:txBody>
      </p:sp>
      <p:sp>
        <p:nvSpPr>
          <p:cNvPr id="16" name="Shape 14"/>
          <p:cNvSpPr/>
          <p:nvPr/>
        </p:nvSpPr>
        <p:spPr>
          <a:xfrm>
            <a:off x="3291840" y="1508760"/>
            <a:ext cx="2578608" cy="512064"/>
          </a:xfrm>
          <a:prstGeom prst="roundRect">
            <a:avLst>
              <a:gd name="adj" fmla="val 7143"/>
            </a:avLst>
          </a:prstGeom>
          <a:solidFill>
            <a:srgbClr val="F0F7F9"/>
          </a:solidFill>
          <a:ln w="12700">
            <a:solidFill>
              <a:srgbClr val="CBD9DB"/>
            </a:solidFill>
            <a:prstDash val="solid"/>
          </a:ln>
        </p:spPr>
      </p:sp>
      <p:sp>
        <p:nvSpPr>
          <p:cNvPr id="17" name="Text 15"/>
          <p:cNvSpPr/>
          <p:nvPr/>
        </p:nvSpPr>
        <p:spPr>
          <a:xfrm>
            <a:off x="3310128" y="1517904"/>
            <a:ext cx="2542032" cy="493776"/>
          </a:xfrm>
          <a:prstGeom prst="rect">
            <a:avLst/>
          </a:prstGeom>
          <a:noFill/>
          <a:ln/>
        </p:spPr>
        <p:txBody>
          <a:bodyPr wrap="square" rtlCol="0" anchor="ctr"/>
          <a:lstStyle/>
          <a:p>
            <a:pPr marL="0" indent="0">
              <a:buNone/>
            </a:pPr>
            <a:r>
              <a:rPr lang="en-US" sz="750" b="1" dirty="0">
                <a:solidFill>
                  <a:srgbClr val="0D2137"/>
                </a:solidFill>
                <a:latin typeface="Calibri" pitchFamily="34" charset="0"/>
                <a:ea typeface="Calibri" pitchFamily="34" charset="-122"/>
                <a:cs typeface="Calibri" pitchFamily="34" charset="-120"/>
              </a:rPr>
              <a:t>Formula: </a:t>
            </a:r>
            <a:r>
              <a:rPr lang="en-US" sz="750" dirty="0">
                <a:solidFill>
                  <a:srgbClr val="64748B"/>
                </a:solidFill>
                <a:latin typeface="Calibri" pitchFamily="34" charset="0"/>
                <a:ea typeface="Calibri" pitchFamily="34" charset="-122"/>
                <a:cs typeface="Calibri" pitchFamily="34" charset="-120"/>
              </a:rPr>
              <a:t>(Patients answering 'Always' to both questions ÷ Total respondents) × 100</a:t>
            </a:r>
            <a:endParaRPr lang="en-US" sz="750" dirty="0"/>
          </a:p>
        </p:txBody>
      </p:sp>
      <p:sp>
        <p:nvSpPr>
          <p:cNvPr id="18" name="Text 16"/>
          <p:cNvSpPr/>
          <p:nvPr/>
        </p:nvSpPr>
        <p:spPr>
          <a:xfrm>
            <a:off x="3310128" y="2075688"/>
            <a:ext cx="2560320" cy="2743200"/>
          </a:xfrm>
          <a:prstGeom prst="rect">
            <a:avLst/>
          </a:prstGeom>
          <a:noFill/>
          <a:ln/>
        </p:spPr>
        <p:txBody>
          <a:bodyPr wrap="square" rtlCol="0" anchor="t"/>
          <a:lstStyle/>
          <a:p>
            <a:pPr marL="0" indent="0">
              <a:buNone/>
            </a:pPr>
            <a:r>
              <a:rPr lang="en-US" sz="800" dirty="0">
                <a:solidFill>
                  <a:srgbClr val="64748B"/>
                </a:solidFill>
                <a:latin typeface="Calibri" pitchFamily="34" charset="0"/>
                <a:ea typeface="Calibri" pitchFamily="34" charset="-122"/>
                <a:cs typeface="Calibri" pitchFamily="34" charset="-120"/>
              </a:rPr>
              <a:t>HCAHPS stands for Hospital Consumer Assessment of Healthcare Providers and Systems — a standardized, publicly reported patient survey. The two Staff Responsiveness questions ask patients how quickly they got help after pressing the call button and how quickly they got help with the bathroom or bedpan.</a:t>
            </a:r>
            <a:endParaRPr lang="en-US" sz="800" dirty="0"/>
          </a:p>
          <a:p>
            <a:pPr marL="0" indent="0">
              <a:buNone/>
            </a:pPr>
            <a:endParaRPr lang="en-US" sz="800" dirty="0"/>
          </a:p>
          <a:p>
            <a:pPr marL="0" indent="0">
              <a:buNone/>
            </a:pPr>
            <a:r>
              <a:rPr lang="en-US" sz="800" dirty="0">
                <a:solidFill>
                  <a:srgbClr val="64748B"/>
                </a:solidFill>
                <a:latin typeface="Calibri" pitchFamily="34" charset="0"/>
                <a:ea typeface="Calibri" pitchFamily="34" charset="-122"/>
                <a:cs typeface="Calibri" pitchFamily="34" charset="-120"/>
              </a:rPr>
              <a:t>'Top Box' means only 'Always' counts — partial responses like 'Usually' are not included. Industry benchmark is 65%. Falling below this signals patients feel staff are unavailable or delayed.</a:t>
            </a:r>
            <a:endParaRPr lang="en-US" sz="800" dirty="0"/>
          </a:p>
        </p:txBody>
      </p:sp>
      <p:sp>
        <p:nvSpPr>
          <p:cNvPr id="19" name="Shape 17"/>
          <p:cNvSpPr/>
          <p:nvPr/>
        </p:nvSpPr>
        <p:spPr>
          <a:xfrm>
            <a:off x="6126480" y="868680"/>
            <a:ext cx="2788920" cy="4069080"/>
          </a:xfrm>
          <a:prstGeom prst="roundRect">
            <a:avLst>
              <a:gd name="adj" fmla="val 2623"/>
            </a:avLst>
          </a:prstGeom>
          <a:solidFill>
            <a:srgbClr val="FFFFFF"/>
          </a:solidFill>
          <a:ln w="12700">
            <a:solidFill>
              <a:srgbClr val="DDEAED"/>
            </a:solidFill>
            <a:prstDash val="solid"/>
          </a:ln>
          <a:effectLst>
            <a:outerShdw blurRad="101600" dist="38100" dir="2700000" algn="bl" rotWithShape="0">
              <a:srgbClr val="000000">
                <a:alpha val="13000"/>
              </a:srgbClr>
            </a:outerShdw>
          </a:effectLst>
        </p:spPr>
      </p:sp>
      <p:sp>
        <p:nvSpPr>
          <p:cNvPr id="20" name="Shape 18"/>
          <p:cNvSpPr/>
          <p:nvPr/>
        </p:nvSpPr>
        <p:spPr>
          <a:xfrm>
            <a:off x="6199632" y="932688"/>
            <a:ext cx="2642616" cy="292608"/>
          </a:xfrm>
          <a:prstGeom prst="roundRect">
            <a:avLst>
              <a:gd name="adj" fmla="val 12500"/>
            </a:avLst>
          </a:prstGeom>
          <a:solidFill>
            <a:srgbClr val="F4845F"/>
          </a:solidFill>
          <a:ln w="12700">
            <a:solidFill>
              <a:srgbClr val="F4845F"/>
            </a:solidFill>
            <a:prstDash val="solid"/>
          </a:ln>
        </p:spPr>
      </p:sp>
      <p:sp>
        <p:nvSpPr>
          <p:cNvPr id="21" name="Text 19"/>
          <p:cNvSpPr/>
          <p:nvPr/>
        </p:nvSpPr>
        <p:spPr>
          <a:xfrm>
            <a:off x="6199632" y="932688"/>
            <a:ext cx="2642616" cy="292608"/>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Unassisted Patient Falls per 1,000 Patient Days</a:t>
            </a:r>
            <a:endParaRPr lang="en-US" sz="750" dirty="0"/>
          </a:p>
        </p:txBody>
      </p:sp>
      <p:sp>
        <p:nvSpPr>
          <p:cNvPr id="22" name="Text 20"/>
          <p:cNvSpPr/>
          <p:nvPr/>
        </p:nvSpPr>
        <p:spPr>
          <a:xfrm>
            <a:off x="6236208" y="1261872"/>
            <a:ext cx="2560320" cy="219456"/>
          </a:xfrm>
          <a:prstGeom prst="rect">
            <a:avLst/>
          </a:prstGeom>
          <a:noFill/>
          <a:ln/>
        </p:spPr>
        <p:txBody>
          <a:bodyPr wrap="square" lIns="0" tIns="0" rIns="0" bIns="0" rtlCol="0" anchor="ctr"/>
          <a:lstStyle/>
          <a:p>
            <a:pPr marL="0" indent="0">
              <a:buNone/>
            </a:pPr>
            <a:r>
              <a:rPr lang="en-US" sz="750" i="1" dirty="0">
                <a:solidFill>
                  <a:srgbClr val="028090"/>
                </a:solidFill>
                <a:latin typeface="Calibri" pitchFamily="34" charset="0"/>
                <a:ea typeface="Calibri" pitchFamily="34" charset="-122"/>
                <a:cs typeface="Calibri" pitchFamily="34" charset="-120"/>
              </a:rPr>
              <a:t>Source: NDNQI (National Database of Nursing Quality Indicators)</a:t>
            </a:r>
            <a:endParaRPr lang="en-US" sz="750" dirty="0"/>
          </a:p>
        </p:txBody>
      </p:sp>
      <p:sp>
        <p:nvSpPr>
          <p:cNvPr id="23" name="Shape 21"/>
          <p:cNvSpPr/>
          <p:nvPr/>
        </p:nvSpPr>
        <p:spPr>
          <a:xfrm>
            <a:off x="6217920" y="1508760"/>
            <a:ext cx="2578608" cy="512064"/>
          </a:xfrm>
          <a:prstGeom prst="roundRect">
            <a:avLst>
              <a:gd name="adj" fmla="val 7143"/>
            </a:avLst>
          </a:prstGeom>
          <a:solidFill>
            <a:srgbClr val="F0F7F9"/>
          </a:solidFill>
          <a:ln w="12700">
            <a:solidFill>
              <a:srgbClr val="CBD9DB"/>
            </a:solidFill>
            <a:prstDash val="solid"/>
          </a:ln>
        </p:spPr>
      </p:sp>
      <p:sp>
        <p:nvSpPr>
          <p:cNvPr id="24" name="Text 22"/>
          <p:cNvSpPr/>
          <p:nvPr/>
        </p:nvSpPr>
        <p:spPr>
          <a:xfrm>
            <a:off x="6236208" y="1517904"/>
            <a:ext cx="2542032" cy="493776"/>
          </a:xfrm>
          <a:prstGeom prst="rect">
            <a:avLst/>
          </a:prstGeom>
          <a:noFill/>
          <a:ln/>
        </p:spPr>
        <p:txBody>
          <a:bodyPr wrap="square" rtlCol="0" anchor="ctr"/>
          <a:lstStyle/>
          <a:p>
            <a:pPr marL="0" indent="0">
              <a:buNone/>
            </a:pPr>
            <a:r>
              <a:rPr lang="en-US" sz="750" b="1" dirty="0">
                <a:solidFill>
                  <a:srgbClr val="0D2137"/>
                </a:solidFill>
                <a:latin typeface="Calibri" pitchFamily="34" charset="0"/>
                <a:ea typeface="Calibri" pitchFamily="34" charset="-122"/>
                <a:cs typeface="Calibri" pitchFamily="34" charset="-120"/>
              </a:rPr>
              <a:t>Formula: </a:t>
            </a:r>
            <a:r>
              <a:rPr lang="en-US" sz="750" dirty="0">
                <a:solidFill>
                  <a:srgbClr val="64748B"/>
                </a:solidFill>
                <a:latin typeface="Calibri" pitchFamily="34" charset="0"/>
                <a:ea typeface="Calibri" pitchFamily="34" charset="-122"/>
                <a:cs typeface="Calibri" pitchFamily="34" charset="-120"/>
              </a:rPr>
              <a:t>(No. of Unassisted Falls ÷ No. of Patient Days) × 1,000</a:t>
            </a:r>
            <a:endParaRPr lang="en-US" sz="750" dirty="0"/>
          </a:p>
        </p:txBody>
      </p:sp>
      <p:sp>
        <p:nvSpPr>
          <p:cNvPr id="25" name="Text 23"/>
          <p:cNvSpPr/>
          <p:nvPr/>
        </p:nvSpPr>
        <p:spPr>
          <a:xfrm>
            <a:off x="6236208" y="2075688"/>
            <a:ext cx="2560320" cy="2743200"/>
          </a:xfrm>
          <a:prstGeom prst="rect">
            <a:avLst/>
          </a:prstGeom>
          <a:noFill/>
          <a:ln/>
        </p:spPr>
        <p:txBody>
          <a:bodyPr wrap="square" rtlCol="0" anchor="t"/>
          <a:lstStyle/>
          <a:p>
            <a:pPr marL="0" indent="0">
              <a:buNone/>
            </a:pPr>
            <a:r>
              <a:rPr lang="en-US" sz="800" dirty="0">
                <a:solidFill>
                  <a:srgbClr val="64748B"/>
                </a:solidFill>
                <a:latin typeface="Calibri" pitchFamily="34" charset="0"/>
                <a:ea typeface="Calibri" pitchFamily="34" charset="-122"/>
                <a:cs typeface="Calibri" pitchFamily="34" charset="-120"/>
              </a:rPr>
              <a:t>A patient fall is any unplanned descent to the floor — with or without injury. Unassisted means no staff member was present to catch or support the patient.</a:t>
            </a:r>
            <a:endParaRPr lang="en-US" sz="800" dirty="0"/>
          </a:p>
          <a:p>
            <a:pPr marL="0" indent="0">
              <a:buNone/>
            </a:pPr>
            <a:endParaRPr lang="en-US" sz="800" dirty="0"/>
          </a:p>
          <a:p>
            <a:pPr marL="0" indent="0">
              <a:buNone/>
            </a:pPr>
            <a:r>
              <a:rPr lang="en-US" sz="800" dirty="0">
                <a:solidFill>
                  <a:srgbClr val="64748B"/>
                </a:solidFill>
                <a:latin typeface="Calibri" pitchFamily="34" charset="0"/>
                <a:ea typeface="Calibri" pitchFamily="34" charset="-122"/>
                <a:cs typeface="Calibri" pitchFamily="34" charset="-120"/>
              </a:rPr>
              <a:t>Patient Days normalizes fall counts by the total time patients spent in the hospital. For example, 100 patients each staying 3 days = 300 patient days. This allows fair comparison across time periods.</a:t>
            </a:r>
            <a:endParaRPr lang="en-US" sz="800" dirty="0"/>
          </a:p>
          <a:p>
            <a:pPr marL="0" indent="0">
              <a:buNone/>
            </a:pPr>
            <a:endParaRPr lang="en-US" sz="800" dirty="0"/>
          </a:p>
          <a:p>
            <a:pPr marL="0" indent="0">
              <a:buNone/>
            </a:pPr>
            <a:r>
              <a:rPr lang="en-US" sz="800" dirty="0">
                <a:solidFill>
                  <a:srgbClr val="64748B"/>
                </a:solidFill>
                <a:latin typeface="Calibri" pitchFamily="34" charset="0"/>
                <a:ea typeface="Calibri" pitchFamily="34" charset="-122"/>
                <a:cs typeface="Calibri" pitchFamily="34" charset="-120"/>
              </a:rPr>
              <a:t>Why it matters: Unassisted falls are a direct patient safety signal — they are largely preventable with adequate staffing and proactive rounding.</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28090"/>
          </a:solidFill>
          <a:ln w="12700">
            <a:solidFill>
              <a:srgbClr val="028090"/>
            </a:solidFill>
            <a:prstDash val="solid"/>
          </a:ln>
        </p:spPr>
      </p:sp>
      <p:sp>
        <p:nvSpPr>
          <p:cNvPr id="3" name="Text 1"/>
          <p:cNvSpPr/>
          <p:nvPr/>
        </p:nvSpPr>
        <p:spPr>
          <a:xfrm>
            <a:off x="365760" y="73152"/>
            <a:ext cx="7315200" cy="347472"/>
          </a:xfrm>
          <a:prstGeom prst="rect">
            <a:avLst/>
          </a:prstGeom>
          <a:noFill/>
          <a:ln/>
        </p:spPr>
        <p:txBody>
          <a:bodyPr wrap="square" lIns="0" tIns="0" rIns="0" bIns="0" rtlCol="0" anchor="ctr"/>
          <a:lstStyle/>
          <a:p>
            <a:pPr marL="0" indent="0">
              <a:buNone/>
            </a:pPr>
            <a:r>
              <a:rPr lang="en-US" sz="1300" b="1" kern="0" spc="200" dirty="0">
                <a:solidFill>
                  <a:srgbClr val="FFFFFF"/>
                </a:solidFill>
                <a:latin typeface="Calibri" pitchFamily="34" charset="0"/>
                <a:ea typeface="Calibri" pitchFamily="34" charset="-122"/>
                <a:cs typeface="Calibri" pitchFamily="34" charset="-120"/>
              </a:rPr>
              <a:t>KPI OVERVIEW: ALL THREE METRICS AT A GLANCE (2020–2024)</a:t>
            </a:r>
            <a:endParaRPr lang="en-US" sz="1300" dirty="0"/>
          </a:p>
        </p:txBody>
      </p:sp>
      <p:sp>
        <p:nvSpPr>
          <p:cNvPr id="4" name="Text 2"/>
          <p:cNvSpPr/>
          <p:nvPr/>
        </p:nvSpPr>
        <p:spPr>
          <a:xfrm>
            <a:off x="365760" y="512064"/>
            <a:ext cx="8412480" cy="347472"/>
          </a:xfrm>
          <a:prstGeom prst="rect">
            <a:avLst/>
          </a:prstGeom>
          <a:noFill/>
          <a:ln/>
        </p:spPr>
        <p:txBody>
          <a:bodyPr wrap="square" lIns="0" tIns="0" rIns="0" bIns="0" rtlCol="0" anchor="ctr"/>
          <a:lstStyle/>
          <a:p>
            <a:pPr marL="0" indent="0">
              <a:buNone/>
            </a:pPr>
            <a:r>
              <a:rPr lang="en-US" sz="1100" i="1" dirty="0">
                <a:solidFill>
                  <a:srgbClr val="64748B"/>
                </a:solidFill>
                <a:latin typeface="Calibri" pitchFamily="34" charset="0"/>
                <a:ea typeface="Calibri" pitchFamily="34" charset="-122"/>
                <a:cs typeface="Calibri" pitchFamily="34" charset="-120"/>
              </a:rPr>
              <a:t>A side-by-side yearly comparison of all three key performance indicators</a:t>
            </a:r>
            <a:endParaRPr lang="en-US" sz="1100" dirty="0"/>
          </a:p>
        </p:txBody>
      </p:sp>
      <p:pic>
        <p:nvPicPr>
          <p:cNvPr id="5" name="Image 0" descr="/mnt/user-data/uploads/1782540219851_image.png"/>
          <p:cNvPicPr>
            <a:picLocks noChangeAspect="1"/>
          </p:cNvPicPr>
          <p:nvPr/>
        </p:nvPicPr>
        <p:blipFill>
          <a:blip r:embed="rId3"/>
          <a:stretch>
            <a:fillRect/>
          </a:stretch>
        </p:blipFill>
        <p:spPr>
          <a:xfrm>
            <a:off x="320040" y="868680"/>
            <a:ext cx="5394960" cy="3108960"/>
          </a:xfrm>
          <a:prstGeom prst="rect">
            <a:avLst/>
          </a:prstGeom>
        </p:spPr>
      </p:pic>
      <p:sp>
        <p:nvSpPr>
          <p:cNvPr id="6" name="Shape 3"/>
          <p:cNvSpPr/>
          <p:nvPr/>
        </p:nvSpPr>
        <p:spPr>
          <a:xfrm>
            <a:off x="5852160" y="640080"/>
            <a:ext cx="2971800" cy="3108960"/>
          </a:xfrm>
          <a:prstGeom prst="roundRect">
            <a:avLst>
              <a:gd name="adj" fmla="val 2462"/>
            </a:avLst>
          </a:prstGeom>
          <a:solidFill>
            <a:srgbClr val="0D2137"/>
          </a:solidFill>
          <a:ln w="12700">
            <a:solidFill>
              <a:srgbClr val="0D2137"/>
            </a:solidFill>
            <a:prstDash val="solid"/>
          </a:ln>
        </p:spPr>
      </p:sp>
      <p:sp>
        <p:nvSpPr>
          <p:cNvPr id="7" name="Text 4"/>
          <p:cNvSpPr/>
          <p:nvPr/>
        </p:nvSpPr>
        <p:spPr>
          <a:xfrm>
            <a:off x="5989320" y="731520"/>
            <a:ext cx="2697480" cy="274320"/>
          </a:xfrm>
          <a:prstGeom prst="rect">
            <a:avLst/>
          </a:prstGeom>
          <a:noFill/>
          <a:ln/>
        </p:spPr>
        <p:txBody>
          <a:bodyPr wrap="square" lIns="0" tIns="0" rIns="0" bIns="0" rtlCol="0" anchor="ctr"/>
          <a:lstStyle/>
          <a:p>
            <a:pPr marL="0" indent="0">
              <a:buNone/>
            </a:pPr>
            <a:r>
              <a:rPr lang="en-US" sz="1000" b="1" dirty="0">
                <a:solidFill>
                  <a:srgbClr val="02C39A"/>
                </a:solidFill>
                <a:latin typeface="Calibri" pitchFamily="34" charset="0"/>
                <a:ea typeface="Calibri" pitchFamily="34" charset="-122"/>
                <a:cs typeface="Calibri" pitchFamily="34" charset="-120"/>
              </a:rPr>
              <a:t>Reading This Chart</a:t>
            </a:r>
            <a:endParaRPr lang="en-US" sz="1000" dirty="0"/>
          </a:p>
        </p:txBody>
      </p:sp>
      <p:sp>
        <p:nvSpPr>
          <p:cNvPr id="8" name="Text 5"/>
          <p:cNvSpPr/>
          <p:nvPr/>
        </p:nvSpPr>
        <p:spPr>
          <a:xfrm>
            <a:off x="5989320" y="1051560"/>
            <a:ext cx="2697480" cy="2560320"/>
          </a:xfrm>
          <a:prstGeom prst="rect">
            <a:avLst/>
          </a:prstGeom>
          <a:noFill/>
          <a:ln/>
        </p:spPr>
        <p:txBody>
          <a:bodyPr wrap="square" rtlCol="0" anchor="t"/>
          <a:lstStyle/>
          <a:p>
            <a:pPr marL="0" indent="0">
              <a:buNone/>
            </a:pPr>
            <a:r>
              <a:rPr lang="en-US" sz="850" dirty="0">
                <a:solidFill>
                  <a:srgbClr val="000000"/>
                </a:solidFill>
                <a:latin typeface="Calibri" pitchFamily="34" charset="0"/>
                <a:ea typeface="Calibri" pitchFamily="34" charset="-122"/>
                <a:cs typeface="Calibri" pitchFamily="34" charset="-120"/>
              </a:rPr>
              <a:t>Three bars per year show how each KPI moves together or diverges:
</a:t>
            </a:r>
            <a:r>
              <a:rPr lang="en-US" sz="850" b="1" dirty="0">
                <a:solidFill>
                  <a:srgbClr val="028090"/>
                </a:solidFill>
                <a:latin typeface="Calibri" pitchFamily="34" charset="0"/>
                <a:ea typeface="Calibri" pitchFamily="34" charset="-122"/>
                <a:cs typeface="Calibri" pitchFamily="34" charset="-120"/>
              </a:rPr>
              <a:t>■ Teal  </a:t>
            </a:r>
            <a:r>
              <a:rPr lang="en-US" sz="850" dirty="0">
                <a:solidFill>
                  <a:srgbClr val="AECDD4"/>
                </a:solidFill>
                <a:latin typeface="Calibri" pitchFamily="34" charset="0"/>
                <a:ea typeface="Calibri" pitchFamily="34" charset="-122"/>
                <a:cs typeface="Calibri" pitchFamily="34" charset="-120"/>
              </a:rPr>
              <a:t>Bed Occupancy — stays high (95–97%) across all years with little variation.
</a:t>
            </a:r>
            <a:r>
              <a:rPr lang="en-US" sz="850" b="1" dirty="0">
                <a:solidFill>
                  <a:srgbClr val="F4845F"/>
                </a:solidFill>
                <a:latin typeface="Calibri" pitchFamily="34" charset="0"/>
                <a:ea typeface="Calibri" pitchFamily="34" charset="-122"/>
                <a:cs typeface="Calibri" pitchFamily="34" charset="-120"/>
              </a:rPr>
              <a:t>■ Orange  </a:t>
            </a:r>
            <a:r>
              <a:rPr lang="en-US" sz="850" dirty="0">
                <a:solidFill>
                  <a:srgbClr val="AECDD4"/>
                </a:solidFill>
                <a:latin typeface="Calibri" pitchFamily="34" charset="0"/>
                <a:ea typeface="Calibri" pitchFamily="34" charset="-122"/>
                <a:cs typeface="Calibri" pitchFamily="34" charset="-120"/>
              </a:rPr>
              <a:t>Unassisted Fall %— rises from 23% (2020) to 28% (2022–23) before easing slightly.
</a:t>
            </a:r>
            <a:r>
              <a:rPr lang="en-US" sz="850" b="1" dirty="0">
                <a:solidFill>
                  <a:srgbClr val="4A90A4"/>
                </a:solidFill>
                <a:latin typeface="Calibri" pitchFamily="34" charset="0"/>
                <a:ea typeface="Calibri" pitchFamily="34" charset="-122"/>
                <a:cs typeface="Calibri" pitchFamily="34" charset="-120"/>
              </a:rPr>
              <a:t>■ Navy  </a:t>
            </a:r>
            <a:r>
              <a:rPr lang="en-US" sz="850" dirty="0">
                <a:solidFill>
                  <a:srgbClr val="AECDD4"/>
                </a:solidFill>
                <a:latin typeface="Calibri" pitchFamily="34" charset="0"/>
                <a:ea typeface="Calibri" pitchFamily="34" charset="-122"/>
                <a:cs typeface="Calibri" pitchFamily="34" charset="-120"/>
              </a:rPr>
              <a:t>Staff Responsiveness % — drops from 65% in 2020 to a low of 61% in 2022, recovering to 64% by 2024.
</a:t>
            </a:r>
            <a:r>
              <a:rPr lang="en-US" sz="850" b="1" dirty="0">
                <a:solidFill>
                  <a:srgbClr val="02C39A"/>
                </a:solidFill>
                <a:latin typeface="Calibri" pitchFamily="34" charset="0"/>
                <a:ea typeface="Calibri" pitchFamily="34" charset="-122"/>
                <a:cs typeface="Calibri" pitchFamily="34" charset="-120"/>
              </a:rPr>
              <a:t>Key takeaway: </a:t>
            </a:r>
            <a:r>
              <a:rPr lang="en-US" sz="850" dirty="0">
                <a:solidFill>
                  <a:srgbClr val="AECDD4"/>
                </a:solidFill>
                <a:latin typeface="Calibri" pitchFamily="34" charset="0"/>
                <a:ea typeface="Calibri" pitchFamily="34" charset="-122"/>
                <a:cs typeface="Calibri" pitchFamily="34" charset="-120"/>
              </a:rPr>
              <a:t>As occupancy climbs, falls worsen and responsiveness deteriorates — in sync.</a:t>
            </a:r>
            <a:endParaRPr lang="en-US" sz="850" dirty="0"/>
          </a:p>
        </p:txBody>
      </p:sp>
      <p:sp>
        <p:nvSpPr>
          <p:cNvPr id="9" name="Text 6"/>
          <p:cNvSpPr/>
          <p:nvPr/>
        </p:nvSpPr>
        <p:spPr>
          <a:xfrm>
            <a:off x="320040" y="3822192"/>
            <a:ext cx="8503920" cy="502920"/>
          </a:xfrm>
          <a:prstGeom prst="rect">
            <a:avLst/>
          </a:prstGeom>
          <a:noFill/>
          <a:ln/>
        </p:spPr>
        <p:txBody>
          <a:bodyPr wrap="square" rtlCol="0" anchor="ctr"/>
          <a:lstStyle/>
          <a:p>
            <a:pPr marL="0" indent="0">
              <a:buNone/>
            </a:pPr>
            <a:r>
              <a:rPr lang="en-US" sz="850" i="1" dirty="0">
                <a:solidFill>
                  <a:srgbClr val="64748B"/>
                </a:solidFill>
                <a:latin typeface="Calibri" pitchFamily="34" charset="0"/>
                <a:ea typeface="Calibri" pitchFamily="34" charset="-122"/>
                <a:cs typeface="Calibri" pitchFamily="34" charset="-120"/>
              </a:rPr>
              <a:t>Why this chart: Before examining each KPI individually, this grouped view shows the directional relationship at a glance — all three metrics shift together, suggesting a systemic connection rather than isolated events.</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28090"/>
          </a:solidFill>
          <a:ln w="12700">
            <a:solidFill>
              <a:srgbClr val="028090"/>
            </a:solidFill>
            <a:prstDash val="solid"/>
          </a:ln>
        </p:spPr>
      </p:sp>
      <p:sp>
        <p:nvSpPr>
          <p:cNvPr id="3" name="Text 1"/>
          <p:cNvSpPr/>
          <p:nvPr/>
        </p:nvSpPr>
        <p:spPr>
          <a:xfrm>
            <a:off x="365760" y="73152"/>
            <a:ext cx="7315200" cy="347472"/>
          </a:xfrm>
          <a:prstGeom prst="rect">
            <a:avLst/>
          </a:prstGeom>
          <a:noFill/>
          <a:ln/>
        </p:spPr>
        <p:txBody>
          <a:bodyPr wrap="square" lIns="0" tIns="0" rIns="0" bIns="0" rtlCol="0" anchor="ctr"/>
          <a:lstStyle/>
          <a:p>
            <a:pPr marL="0" indent="0">
              <a:buNone/>
            </a:pPr>
            <a:r>
              <a:rPr lang="en-US" sz="1300" b="1" kern="0" spc="200" dirty="0">
                <a:solidFill>
                  <a:srgbClr val="FFFFFF"/>
                </a:solidFill>
                <a:latin typeface="Calibri" pitchFamily="34" charset="0"/>
                <a:ea typeface="Calibri" pitchFamily="34" charset="-122"/>
                <a:cs typeface="Calibri" pitchFamily="34" charset="-120"/>
              </a:rPr>
              <a:t>METRIC 1: AVERAGE LICENSED BED OCCUPANCY RATE (2020–2024)</a:t>
            </a:r>
            <a:endParaRPr lang="en-US" sz="1300" dirty="0"/>
          </a:p>
        </p:txBody>
      </p:sp>
      <p:sp>
        <p:nvSpPr>
          <p:cNvPr id="4" name="Text 2"/>
          <p:cNvSpPr/>
          <p:nvPr/>
        </p:nvSpPr>
        <p:spPr>
          <a:xfrm>
            <a:off x="365760" y="512064"/>
            <a:ext cx="8412480" cy="347472"/>
          </a:xfrm>
          <a:prstGeom prst="rect">
            <a:avLst/>
          </a:prstGeom>
          <a:noFill/>
          <a:ln/>
        </p:spPr>
        <p:txBody>
          <a:bodyPr wrap="square" lIns="0" tIns="0" rIns="0" bIns="0" rtlCol="0" anchor="ctr"/>
          <a:lstStyle/>
          <a:p>
            <a:pPr marL="0" indent="0">
              <a:buNone/>
            </a:pPr>
            <a:r>
              <a:rPr lang="en-US" sz="1100" i="1" dirty="0">
                <a:solidFill>
                  <a:srgbClr val="64748B"/>
                </a:solidFill>
                <a:latin typeface="Calibri" pitchFamily="34" charset="0"/>
                <a:ea typeface="Calibri" pitchFamily="34" charset="-122"/>
                <a:cs typeface="Calibri" pitchFamily="34" charset="-120"/>
              </a:rPr>
              <a:t>Is the hospital operating at safe capacity levels?</a:t>
            </a:r>
            <a:endParaRPr lang="en-US" sz="1100" dirty="0"/>
          </a:p>
        </p:txBody>
      </p:sp>
      <p:pic>
        <p:nvPicPr>
          <p:cNvPr id="5" name="Image 0" descr="/mnt/user-data/uploads/1782540180859_image.png"/>
          <p:cNvPicPr>
            <a:picLocks noChangeAspect="1"/>
          </p:cNvPicPr>
          <p:nvPr/>
        </p:nvPicPr>
        <p:blipFill>
          <a:blip r:embed="rId3"/>
          <a:stretch>
            <a:fillRect/>
          </a:stretch>
        </p:blipFill>
        <p:spPr>
          <a:xfrm>
            <a:off x="320040" y="786384"/>
            <a:ext cx="5029200" cy="3200400"/>
          </a:xfrm>
          <a:prstGeom prst="rect">
            <a:avLst/>
          </a:prstGeom>
        </p:spPr>
      </p:pic>
      <p:sp>
        <p:nvSpPr>
          <p:cNvPr id="6" name="Shape 3"/>
          <p:cNvSpPr/>
          <p:nvPr/>
        </p:nvSpPr>
        <p:spPr>
          <a:xfrm>
            <a:off x="5532120" y="640080"/>
            <a:ext cx="3291840" cy="1005840"/>
          </a:xfrm>
          <a:prstGeom prst="roundRect">
            <a:avLst>
              <a:gd name="adj" fmla="val 5455"/>
            </a:avLst>
          </a:prstGeom>
          <a:solidFill>
            <a:srgbClr val="E8F4F6"/>
          </a:solidFill>
          <a:ln w="12700">
            <a:solidFill>
              <a:srgbClr val="CBD9DB"/>
            </a:solidFill>
            <a:prstDash val="solid"/>
          </a:ln>
        </p:spPr>
      </p:sp>
      <p:sp>
        <p:nvSpPr>
          <p:cNvPr id="7" name="Text 4"/>
          <p:cNvSpPr/>
          <p:nvPr/>
        </p:nvSpPr>
        <p:spPr>
          <a:xfrm>
            <a:off x="5623560" y="667512"/>
            <a:ext cx="3108960" cy="914400"/>
          </a:xfrm>
          <a:prstGeom prst="rect">
            <a:avLst/>
          </a:prstGeom>
          <a:noFill/>
          <a:ln/>
        </p:spPr>
        <p:txBody>
          <a:bodyPr wrap="square" rtlCol="0" anchor="ctr"/>
          <a:lstStyle/>
          <a:p>
            <a:pPr marL="0" indent="0">
              <a:buNone/>
            </a:pPr>
            <a:r>
              <a:rPr lang="en-US" sz="900" b="1" dirty="0">
                <a:solidFill>
                  <a:srgbClr val="0D2137"/>
                </a:solidFill>
                <a:latin typeface="Calibri" pitchFamily="34" charset="0"/>
                <a:ea typeface="Calibri" pitchFamily="34" charset="-122"/>
                <a:cs typeface="Calibri" pitchFamily="34" charset="-120"/>
              </a:rPr>
              <a:t>What we see: </a:t>
            </a:r>
            <a:r>
              <a:rPr lang="en-US" sz="900" dirty="0">
                <a:solidFill>
                  <a:srgbClr val="64748B"/>
                </a:solidFill>
                <a:latin typeface="Calibri" pitchFamily="34" charset="0"/>
                <a:ea typeface="Calibri" pitchFamily="34" charset="-122"/>
                <a:cs typeface="Calibri" pitchFamily="34" charset="-120"/>
              </a:rPr>
              <a:t>Occupancy crept from 95% (2020) → 97% (2022–2024), staying consistently at the operational ceiling.</a:t>
            </a:r>
            <a:endParaRPr lang="en-US" sz="900" dirty="0"/>
          </a:p>
        </p:txBody>
      </p:sp>
      <p:sp>
        <p:nvSpPr>
          <p:cNvPr id="8" name="Shape 5"/>
          <p:cNvSpPr/>
          <p:nvPr/>
        </p:nvSpPr>
        <p:spPr>
          <a:xfrm>
            <a:off x="5532120" y="1719072"/>
            <a:ext cx="3291840" cy="1097280"/>
          </a:xfrm>
          <a:prstGeom prst="roundRect">
            <a:avLst>
              <a:gd name="adj" fmla="val 5000"/>
            </a:avLst>
          </a:prstGeom>
          <a:solidFill>
            <a:srgbClr val="E8F4F6"/>
          </a:solidFill>
          <a:ln w="12700">
            <a:solidFill>
              <a:srgbClr val="CBD9DB"/>
            </a:solidFill>
            <a:prstDash val="solid"/>
          </a:ln>
        </p:spPr>
      </p:sp>
      <p:sp>
        <p:nvSpPr>
          <p:cNvPr id="9" name="Text 6"/>
          <p:cNvSpPr/>
          <p:nvPr/>
        </p:nvSpPr>
        <p:spPr>
          <a:xfrm>
            <a:off x="5623560" y="1746504"/>
            <a:ext cx="3108960" cy="1005840"/>
          </a:xfrm>
          <a:prstGeom prst="rect">
            <a:avLst/>
          </a:prstGeom>
          <a:noFill/>
          <a:ln/>
        </p:spPr>
        <p:txBody>
          <a:bodyPr wrap="square" rtlCol="0" anchor="ctr"/>
          <a:lstStyle/>
          <a:p>
            <a:pPr marL="0" indent="0">
              <a:buNone/>
            </a:pPr>
            <a:r>
              <a:rPr lang="en-US" sz="900" b="1" dirty="0">
                <a:solidFill>
                  <a:srgbClr val="F4845F"/>
                </a:solidFill>
                <a:latin typeface="Calibri" pitchFamily="34" charset="0"/>
                <a:ea typeface="Calibri" pitchFamily="34" charset="-122"/>
                <a:cs typeface="Calibri" pitchFamily="34" charset="-120"/>
              </a:rPr>
              <a:t>Why 95%+ is critical: </a:t>
            </a:r>
            <a:r>
              <a:rPr lang="en-US" sz="900" dirty="0">
                <a:solidFill>
                  <a:srgbClr val="64748B"/>
                </a:solidFill>
                <a:latin typeface="Calibri" pitchFamily="34" charset="0"/>
                <a:ea typeface="Calibri" pitchFamily="34" charset="-122"/>
                <a:cs typeface="Calibri" pitchFamily="34" charset="-120"/>
              </a:rPr>
              <a:t>Industry best practice recommends ~85% occupancy as the safe operating zone. Above 95%, hospitals struggle to surge capacity, clean rooms quickly, or deploy staff where needed.</a:t>
            </a:r>
            <a:endParaRPr lang="en-US" sz="900" dirty="0"/>
          </a:p>
        </p:txBody>
      </p:sp>
      <p:sp>
        <p:nvSpPr>
          <p:cNvPr id="10" name="Shape 7"/>
          <p:cNvSpPr/>
          <p:nvPr/>
        </p:nvSpPr>
        <p:spPr>
          <a:xfrm>
            <a:off x="5532120" y="2889504"/>
            <a:ext cx="3291840" cy="1005840"/>
          </a:xfrm>
          <a:prstGeom prst="roundRect">
            <a:avLst>
              <a:gd name="adj" fmla="val 5455"/>
            </a:avLst>
          </a:prstGeom>
          <a:solidFill>
            <a:srgbClr val="E8F4F6"/>
          </a:solidFill>
          <a:ln w="12700">
            <a:solidFill>
              <a:srgbClr val="CBD9DB"/>
            </a:solidFill>
            <a:prstDash val="solid"/>
          </a:ln>
        </p:spPr>
      </p:sp>
      <p:sp>
        <p:nvSpPr>
          <p:cNvPr id="11" name="Text 8"/>
          <p:cNvSpPr/>
          <p:nvPr/>
        </p:nvSpPr>
        <p:spPr>
          <a:xfrm>
            <a:off x="5623560" y="2916936"/>
            <a:ext cx="3108960" cy="914400"/>
          </a:xfrm>
          <a:prstGeom prst="rect">
            <a:avLst/>
          </a:prstGeom>
          <a:noFill/>
          <a:ln/>
        </p:spPr>
        <p:txBody>
          <a:bodyPr wrap="square" rtlCol="0" anchor="ctr"/>
          <a:lstStyle/>
          <a:p>
            <a:pPr marL="0" indent="0">
              <a:buNone/>
            </a:pPr>
            <a:r>
              <a:rPr lang="en-US" sz="900" b="1" dirty="0">
                <a:solidFill>
                  <a:srgbClr val="028090"/>
                </a:solidFill>
                <a:latin typeface="Calibri" pitchFamily="34" charset="0"/>
                <a:ea typeface="Calibri" pitchFamily="34" charset="-122"/>
                <a:cs typeface="Calibri" pitchFamily="34" charset="-120"/>
              </a:rPr>
              <a:t>The diagnostic question: </a:t>
            </a:r>
            <a:r>
              <a:rPr lang="en-US" sz="900" dirty="0">
                <a:solidFill>
                  <a:srgbClr val="64748B"/>
                </a:solidFill>
                <a:latin typeface="Calibri" pitchFamily="34" charset="0"/>
                <a:ea typeface="Calibri" pitchFamily="34" charset="-122"/>
                <a:cs typeface="Calibri" pitchFamily="34" charset="-120"/>
              </a:rPr>
              <a:t>Does this persistent high occupancy explain the staff responsiveness decline and rise in falls we see in later charts?</a:t>
            </a:r>
            <a:endParaRPr lang="en-US" sz="900" dirty="0"/>
          </a:p>
        </p:txBody>
      </p:sp>
      <p:sp>
        <p:nvSpPr>
          <p:cNvPr id="12" name="Text 9"/>
          <p:cNvSpPr/>
          <p:nvPr/>
        </p:nvSpPr>
        <p:spPr>
          <a:xfrm>
            <a:off x="320040" y="3913632"/>
            <a:ext cx="8503920" cy="457200"/>
          </a:xfrm>
          <a:prstGeom prst="rect">
            <a:avLst/>
          </a:prstGeom>
          <a:noFill/>
          <a:ln/>
        </p:spPr>
        <p:txBody>
          <a:bodyPr wrap="square" rtlCol="0" anchor="ctr"/>
          <a:lstStyle/>
          <a:p>
            <a:pPr marL="0" indent="0">
              <a:buNone/>
            </a:pPr>
            <a:r>
              <a:rPr lang="en-US" sz="850" i="1" dirty="0">
                <a:solidFill>
                  <a:srgbClr val="64748B"/>
                </a:solidFill>
                <a:latin typeface="Calibri" pitchFamily="34" charset="0"/>
                <a:ea typeface="Calibri" pitchFamily="34" charset="-122"/>
                <a:cs typeface="Calibri" pitchFamily="34" charset="-120"/>
              </a:rPr>
              <a:t>Benchmark context: National average bed occupancy for acute care hospitals typically ranges 65–75%. Lowell's 95–97% is operationally strained territory.</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28090"/>
          </a:solidFill>
          <a:ln w="12700">
            <a:solidFill>
              <a:srgbClr val="028090"/>
            </a:solidFill>
            <a:prstDash val="solid"/>
          </a:ln>
        </p:spPr>
      </p:sp>
      <p:sp>
        <p:nvSpPr>
          <p:cNvPr id="3" name="Text 1"/>
          <p:cNvSpPr/>
          <p:nvPr/>
        </p:nvSpPr>
        <p:spPr>
          <a:xfrm>
            <a:off x="365760" y="73152"/>
            <a:ext cx="7315200" cy="347472"/>
          </a:xfrm>
          <a:prstGeom prst="rect">
            <a:avLst/>
          </a:prstGeom>
          <a:noFill/>
          <a:ln/>
        </p:spPr>
        <p:txBody>
          <a:bodyPr wrap="square" lIns="0" tIns="0" rIns="0" bIns="0" rtlCol="0" anchor="ctr"/>
          <a:lstStyle/>
          <a:p>
            <a:pPr marL="0" indent="0">
              <a:buNone/>
            </a:pPr>
            <a:r>
              <a:rPr lang="en-US" sz="1300" b="1" kern="0" spc="200" dirty="0">
                <a:solidFill>
                  <a:srgbClr val="FFFFFF"/>
                </a:solidFill>
                <a:latin typeface="Calibri" pitchFamily="34" charset="0"/>
                <a:ea typeface="Calibri" pitchFamily="34" charset="-122"/>
                <a:cs typeface="Calibri" pitchFamily="34" charset="-120"/>
              </a:rPr>
              <a:t>METRIC 2: STAFF RESPONSIVENESS TOP BOX SCORE VS. BENCHMARK</a:t>
            </a:r>
            <a:endParaRPr lang="en-US" sz="1300" dirty="0"/>
          </a:p>
        </p:txBody>
      </p:sp>
      <p:sp>
        <p:nvSpPr>
          <p:cNvPr id="4" name="Text 2"/>
          <p:cNvSpPr/>
          <p:nvPr/>
        </p:nvSpPr>
        <p:spPr>
          <a:xfrm>
            <a:off x="365760" y="512064"/>
            <a:ext cx="8412480" cy="347472"/>
          </a:xfrm>
          <a:prstGeom prst="rect">
            <a:avLst/>
          </a:prstGeom>
          <a:noFill/>
          <a:ln/>
        </p:spPr>
        <p:txBody>
          <a:bodyPr wrap="square" lIns="0" tIns="0" rIns="0" bIns="0" rtlCol="0" anchor="ctr"/>
          <a:lstStyle/>
          <a:p>
            <a:pPr marL="0" indent="0">
              <a:buNone/>
            </a:pPr>
            <a:r>
              <a:rPr lang="en-US" sz="1100" i="1" dirty="0">
                <a:solidFill>
                  <a:srgbClr val="64748B"/>
                </a:solidFill>
                <a:latin typeface="Calibri" pitchFamily="34" charset="0"/>
                <a:ea typeface="Calibri" pitchFamily="34" charset="-122"/>
                <a:cs typeface="Calibri" pitchFamily="34" charset="-120"/>
              </a:rPr>
              <a:t>Are patients getting help as quickly as they need it?</a:t>
            </a:r>
            <a:endParaRPr lang="en-US" sz="1100" dirty="0"/>
          </a:p>
        </p:txBody>
      </p:sp>
      <p:pic>
        <p:nvPicPr>
          <p:cNvPr id="5" name="Image 0" descr="/mnt/user-data/uploads/1782540194548_image.png"/>
          <p:cNvPicPr>
            <a:picLocks noChangeAspect="1"/>
          </p:cNvPicPr>
          <p:nvPr/>
        </p:nvPicPr>
        <p:blipFill>
          <a:blip r:embed="rId3"/>
          <a:stretch>
            <a:fillRect/>
          </a:stretch>
        </p:blipFill>
        <p:spPr>
          <a:xfrm>
            <a:off x="320040" y="640080"/>
            <a:ext cx="5486400" cy="3154680"/>
          </a:xfrm>
          <a:prstGeom prst="rect">
            <a:avLst/>
          </a:prstGeom>
        </p:spPr>
      </p:pic>
      <p:sp>
        <p:nvSpPr>
          <p:cNvPr id="6" name="Shape 3"/>
          <p:cNvSpPr/>
          <p:nvPr/>
        </p:nvSpPr>
        <p:spPr>
          <a:xfrm>
            <a:off x="5989320" y="658368"/>
            <a:ext cx="2834640" cy="749808"/>
          </a:xfrm>
          <a:prstGeom prst="roundRect">
            <a:avLst>
              <a:gd name="adj" fmla="val 8537"/>
            </a:avLst>
          </a:prstGeom>
          <a:solidFill>
            <a:srgbClr val="0D2137"/>
          </a:solidFill>
          <a:ln w="12700">
            <a:solidFill>
              <a:srgbClr val="0D2137"/>
            </a:solidFill>
            <a:prstDash val="solid"/>
          </a:ln>
        </p:spPr>
      </p:sp>
      <p:sp>
        <p:nvSpPr>
          <p:cNvPr id="7" name="Text 4"/>
          <p:cNvSpPr/>
          <p:nvPr/>
        </p:nvSpPr>
        <p:spPr>
          <a:xfrm>
            <a:off x="6080760" y="685800"/>
            <a:ext cx="2606040" cy="685800"/>
          </a:xfrm>
          <a:prstGeom prst="rect">
            <a:avLst/>
          </a:prstGeom>
          <a:noFill/>
          <a:ln/>
        </p:spPr>
        <p:txBody>
          <a:bodyPr wrap="square" rtlCol="0" anchor="ctr"/>
          <a:lstStyle/>
          <a:p>
            <a:pPr marL="0" indent="0">
              <a:buNone/>
            </a:pPr>
            <a:r>
              <a:rPr lang="en-US" sz="1800" b="1" dirty="0">
                <a:solidFill>
                  <a:srgbClr val="02C39A"/>
                </a:solidFill>
                <a:latin typeface="Calibri" pitchFamily="34" charset="0"/>
                <a:ea typeface="Calibri" pitchFamily="34" charset="-122"/>
                <a:cs typeface="Calibri" pitchFamily="34" charset="-120"/>
              </a:rPr>
              <a:t>65.3%</a:t>
            </a:r>
            <a:r>
              <a:rPr lang="en-US" sz="850" dirty="0">
                <a:solidFill>
                  <a:srgbClr val="FFFFFF"/>
                </a:solidFill>
                <a:latin typeface="Calibri" pitchFamily="34" charset="0"/>
                <a:ea typeface="Calibri" pitchFamily="34" charset="-122"/>
                <a:cs typeface="Calibri" pitchFamily="34" charset="-120"/>
              </a:rPr>
              <a:t>  2020 — At benchmark</a:t>
            </a:r>
            <a:endParaRPr lang="en-US" sz="1800" dirty="0"/>
          </a:p>
        </p:txBody>
      </p:sp>
      <p:sp>
        <p:nvSpPr>
          <p:cNvPr id="8" name="Shape 5"/>
          <p:cNvSpPr/>
          <p:nvPr/>
        </p:nvSpPr>
        <p:spPr>
          <a:xfrm>
            <a:off x="5989320" y="1490472"/>
            <a:ext cx="2834640" cy="749808"/>
          </a:xfrm>
          <a:prstGeom prst="roundRect">
            <a:avLst>
              <a:gd name="adj" fmla="val 8537"/>
            </a:avLst>
          </a:prstGeom>
          <a:solidFill>
            <a:srgbClr val="C0392B"/>
          </a:solidFill>
          <a:ln w="12700">
            <a:solidFill>
              <a:srgbClr val="C0392B"/>
            </a:solidFill>
            <a:prstDash val="solid"/>
          </a:ln>
        </p:spPr>
      </p:sp>
      <p:sp>
        <p:nvSpPr>
          <p:cNvPr id="9" name="Text 6"/>
          <p:cNvSpPr/>
          <p:nvPr/>
        </p:nvSpPr>
        <p:spPr>
          <a:xfrm>
            <a:off x="6080760" y="1517904"/>
            <a:ext cx="2606040" cy="685800"/>
          </a:xfrm>
          <a:prstGeom prst="rect">
            <a:avLst/>
          </a:prstGeom>
          <a:noFill/>
          <a:ln/>
        </p:spPr>
        <p:txBody>
          <a:bodyPr wrap="square"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60.6%</a:t>
            </a:r>
            <a:r>
              <a:rPr lang="en-US" sz="850" dirty="0">
                <a:solidFill>
                  <a:srgbClr val="FFCCCC"/>
                </a:solidFill>
                <a:latin typeface="Calibri" pitchFamily="34" charset="0"/>
                <a:ea typeface="Calibri" pitchFamily="34" charset="-122"/>
                <a:cs typeface="Calibri" pitchFamily="34" charset="-120"/>
              </a:rPr>
              <a:t>  2022 — Lowest point (−7% vs benchmark)</a:t>
            </a:r>
            <a:endParaRPr lang="en-US" sz="1800" dirty="0"/>
          </a:p>
        </p:txBody>
      </p:sp>
      <p:sp>
        <p:nvSpPr>
          <p:cNvPr id="10" name="Shape 7"/>
          <p:cNvSpPr/>
          <p:nvPr/>
        </p:nvSpPr>
        <p:spPr>
          <a:xfrm>
            <a:off x="5989320" y="2322576"/>
            <a:ext cx="2834640" cy="749808"/>
          </a:xfrm>
          <a:prstGeom prst="roundRect">
            <a:avLst>
              <a:gd name="adj" fmla="val 8537"/>
            </a:avLst>
          </a:prstGeom>
          <a:solidFill>
            <a:srgbClr val="028090"/>
          </a:solidFill>
          <a:ln w="12700">
            <a:solidFill>
              <a:srgbClr val="028090"/>
            </a:solidFill>
            <a:prstDash val="solid"/>
          </a:ln>
        </p:spPr>
      </p:sp>
      <p:sp>
        <p:nvSpPr>
          <p:cNvPr id="11" name="Text 8"/>
          <p:cNvSpPr/>
          <p:nvPr/>
        </p:nvSpPr>
        <p:spPr>
          <a:xfrm>
            <a:off x="6080760" y="2350008"/>
            <a:ext cx="2606040" cy="685800"/>
          </a:xfrm>
          <a:prstGeom prst="rect">
            <a:avLst/>
          </a:prstGeom>
          <a:noFill/>
          <a:ln/>
        </p:spPr>
        <p:txBody>
          <a:bodyPr wrap="square"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64.4%</a:t>
            </a:r>
            <a:r>
              <a:rPr lang="en-US" sz="850" dirty="0">
                <a:solidFill>
                  <a:srgbClr val="D0F0F4"/>
                </a:solidFill>
                <a:latin typeface="Calibri" pitchFamily="34" charset="0"/>
                <a:ea typeface="Calibri" pitchFamily="34" charset="-122"/>
                <a:cs typeface="Calibri" pitchFamily="34" charset="-120"/>
              </a:rPr>
              <a:t>  2024 — Recovering (still below benchmark)</a:t>
            </a:r>
            <a:endParaRPr lang="en-US" sz="1800" dirty="0"/>
          </a:p>
        </p:txBody>
      </p:sp>
      <p:sp>
        <p:nvSpPr>
          <p:cNvPr id="12" name="Shape 9"/>
          <p:cNvSpPr/>
          <p:nvPr/>
        </p:nvSpPr>
        <p:spPr>
          <a:xfrm>
            <a:off x="5989320" y="3154680"/>
            <a:ext cx="2834640" cy="658368"/>
          </a:xfrm>
          <a:prstGeom prst="roundRect">
            <a:avLst>
              <a:gd name="adj" fmla="val 9722"/>
            </a:avLst>
          </a:prstGeom>
          <a:solidFill>
            <a:srgbClr val="F0F7F9"/>
          </a:solidFill>
          <a:ln w="12700">
            <a:solidFill>
              <a:srgbClr val="CBD9DB"/>
            </a:solidFill>
            <a:prstDash val="solid"/>
          </a:ln>
        </p:spPr>
      </p:sp>
      <p:sp>
        <p:nvSpPr>
          <p:cNvPr id="13" name="Text 10"/>
          <p:cNvSpPr/>
          <p:nvPr/>
        </p:nvSpPr>
        <p:spPr>
          <a:xfrm>
            <a:off x="6080760" y="3172968"/>
            <a:ext cx="2606040" cy="621792"/>
          </a:xfrm>
          <a:prstGeom prst="rect">
            <a:avLst/>
          </a:prstGeom>
          <a:noFill/>
          <a:ln/>
        </p:spPr>
        <p:txBody>
          <a:bodyPr wrap="square" rtlCol="0" anchor="ctr"/>
          <a:lstStyle/>
          <a:p>
            <a:pPr marL="0" indent="0">
              <a:buNone/>
            </a:pPr>
            <a:r>
              <a:rPr lang="en-US" sz="850" b="1" dirty="0">
                <a:solidFill>
                  <a:srgbClr val="0D2137"/>
                </a:solidFill>
                <a:latin typeface="Calibri" pitchFamily="34" charset="0"/>
                <a:ea typeface="Calibri" pitchFamily="34" charset="-122"/>
                <a:cs typeface="Calibri" pitchFamily="34" charset="-120"/>
              </a:rPr>
              <a:t>Benchmark: </a:t>
            </a:r>
            <a:r>
              <a:rPr lang="en-US" sz="850" dirty="0">
                <a:solidFill>
                  <a:srgbClr val="64748B"/>
                </a:solidFill>
                <a:latin typeface="Calibri" pitchFamily="34" charset="0"/>
                <a:ea typeface="Calibri" pitchFamily="34" charset="-122"/>
                <a:cs typeface="Calibri" pitchFamily="34" charset="-120"/>
              </a:rPr>
              <a:t>65% is the national HCAHPS threshold. Scores below this indicate patients frequently wait longer than acceptable for call-button responses.</a:t>
            </a:r>
            <a:endParaRPr lang="en-US" sz="850" dirty="0"/>
          </a:p>
        </p:txBody>
      </p:sp>
      <p:sp>
        <p:nvSpPr>
          <p:cNvPr id="14" name="Text 11"/>
          <p:cNvSpPr/>
          <p:nvPr/>
        </p:nvSpPr>
        <p:spPr>
          <a:xfrm>
            <a:off x="320040" y="3886200"/>
            <a:ext cx="8503920" cy="530352"/>
          </a:xfrm>
          <a:prstGeom prst="rect">
            <a:avLst/>
          </a:prstGeom>
          <a:noFill/>
          <a:ln/>
        </p:spPr>
        <p:txBody>
          <a:bodyPr wrap="square" rtlCol="0" anchor="ctr"/>
          <a:lstStyle/>
          <a:p>
            <a:pPr marL="0" indent="0">
              <a:buNone/>
            </a:pPr>
            <a:r>
              <a:rPr lang="en-US" sz="850" i="1" dirty="0">
                <a:solidFill>
                  <a:srgbClr val="64748B"/>
                </a:solidFill>
                <a:latin typeface="Calibri" pitchFamily="34" charset="0"/>
                <a:ea typeface="Calibri" pitchFamily="34" charset="-122"/>
                <a:cs typeface="Calibri" pitchFamily="34" charset="-120"/>
              </a:rPr>
              <a:t>How to read the shaded area: The pink/red shading between the score line and the dashed benchmark line represents the 'below benchmark' zone. Wider shading = more patient dissatisfaction. The fact that Lowell crossed below in 2021 and only partially recovered by 2024 signals a structural issue, not a one-time blip.</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28090"/>
          </a:solidFill>
          <a:ln w="12700">
            <a:solidFill>
              <a:srgbClr val="028090"/>
            </a:solidFill>
            <a:prstDash val="solid"/>
          </a:ln>
        </p:spPr>
      </p:sp>
      <p:sp>
        <p:nvSpPr>
          <p:cNvPr id="3" name="Text 1"/>
          <p:cNvSpPr/>
          <p:nvPr/>
        </p:nvSpPr>
        <p:spPr>
          <a:xfrm>
            <a:off x="365760" y="73152"/>
            <a:ext cx="7315200" cy="347472"/>
          </a:xfrm>
          <a:prstGeom prst="rect">
            <a:avLst/>
          </a:prstGeom>
          <a:noFill/>
          <a:ln/>
        </p:spPr>
        <p:txBody>
          <a:bodyPr wrap="square" lIns="0" tIns="0" rIns="0" bIns="0" rtlCol="0" anchor="ctr"/>
          <a:lstStyle/>
          <a:p>
            <a:pPr marL="0" indent="0">
              <a:buNone/>
            </a:pPr>
            <a:r>
              <a:rPr lang="en-US" sz="1300" b="1" kern="0" spc="200" dirty="0">
                <a:solidFill>
                  <a:srgbClr val="FFFFFF"/>
                </a:solidFill>
                <a:latin typeface="Calibri" pitchFamily="34" charset="0"/>
                <a:ea typeface="Calibri" pitchFamily="34" charset="-122"/>
                <a:cs typeface="Calibri" pitchFamily="34" charset="-120"/>
              </a:rPr>
              <a:t>METRIC 3: UNASSISTED PATIENT FALL RATE PER 1,000 PATIENT DAYS</a:t>
            </a:r>
            <a:endParaRPr lang="en-US" sz="1300" dirty="0"/>
          </a:p>
        </p:txBody>
      </p:sp>
      <p:sp>
        <p:nvSpPr>
          <p:cNvPr id="4" name="Text 2"/>
          <p:cNvSpPr/>
          <p:nvPr/>
        </p:nvSpPr>
        <p:spPr>
          <a:xfrm>
            <a:off x="365760" y="512064"/>
            <a:ext cx="8412480" cy="347472"/>
          </a:xfrm>
          <a:prstGeom prst="rect">
            <a:avLst/>
          </a:prstGeom>
          <a:noFill/>
          <a:ln/>
        </p:spPr>
        <p:txBody>
          <a:bodyPr wrap="square" lIns="0" tIns="0" rIns="0" bIns="0" rtlCol="0" anchor="ctr"/>
          <a:lstStyle/>
          <a:p>
            <a:pPr marL="0" indent="0">
              <a:buNone/>
            </a:pPr>
            <a:r>
              <a:rPr lang="en-US" sz="1100" i="1" dirty="0">
                <a:solidFill>
                  <a:srgbClr val="64748B"/>
                </a:solidFill>
                <a:latin typeface="Calibri" pitchFamily="34" charset="0"/>
                <a:ea typeface="Calibri" pitchFamily="34" charset="-122"/>
                <a:cs typeface="Calibri" pitchFamily="34" charset="-120"/>
              </a:rPr>
              <a:t>Are patients falling without staff present to assist?</a:t>
            </a:r>
            <a:endParaRPr lang="en-US" sz="1100" dirty="0"/>
          </a:p>
        </p:txBody>
      </p:sp>
      <p:pic>
        <p:nvPicPr>
          <p:cNvPr id="5" name="Image 0" descr="/mnt/user-data/uploads/1782540206388_image.png"/>
          <p:cNvPicPr>
            <a:picLocks noChangeAspect="1"/>
          </p:cNvPicPr>
          <p:nvPr/>
        </p:nvPicPr>
        <p:blipFill>
          <a:blip r:embed="rId3"/>
          <a:stretch>
            <a:fillRect/>
          </a:stretch>
        </p:blipFill>
        <p:spPr>
          <a:xfrm>
            <a:off x="320040" y="908643"/>
            <a:ext cx="5029200" cy="3154680"/>
          </a:xfrm>
          <a:prstGeom prst="rect">
            <a:avLst/>
          </a:prstGeom>
        </p:spPr>
      </p:pic>
      <p:sp>
        <p:nvSpPr>
          <p:cNvPr id="6" name="Shape 3"/>
          <p:cNvSpPr/>
          <p:nvPr/>
        </p:nvSpPr>
        <p:spPr>
          <a:xfrm>
            <a:off x="5532120" y="658368"/>
            <a:ext cx="3291840" cy="1005840"/>
          </a:xfrm>
          <a:prstGeom prst="roundRect">
            <a:avLst>
              <a:gd name="adj" fmla="val 5455"/>
            </a:avLst>
          </a:prstGeom>
          <a:solidFill>
            <a:srgbClr val="E8F4F6"/>
          </a:solidFill>
          <a:ln w="12700">
            <a:solidFill>
              <a:srgbClr val="CBD9DB"/>
            </a:solidFill>
            <a:prstDash val="solid"/>
          </a:ln>
        </p:spPr>
      </p:sp>
      <p:sp>
        <p:nvSpPr>
          <p:cNvPr id="7" name="Text 4"/>
          <p:cNvSpPr/>
          <p:nvPr/>
        </p:nvSpPr>
        <p:spPr>
          <a:xfrm>
            <a:off x="5623560" y="685800"/>
            <a:ext cx="3108960" cy="914400"/>
          </a:xfrm>
          <a:prstGeom prst="rect">
            <a:avLst/>
          </a:prstGeom>
          <a:noFill/>
          <a:ln/>
        </p:spPr>
        <p:txBody>
          <a:bodyPr wrap="square" rtlCol="0" anchor="t"/>
          <a:lstStyle/>
          <a:p>
            <a:pPr marL="0" indent="0">
              <a:buNone/>
            </a:pPr>
            <a:r>
              <a:rPr lang="en-US" sz="900" b="1" dirty="0">
                <a:solidFill>
                  <a:srgbClr val="028090"/>
                </a:solidFill>
                <a:latin typeface="Calibri" pitchFamily="34" charset="0"/>
                <a:ea typeface="Calibri" pitchFamily="34" charset="-122"/>
                <a:cs typeface="Calibri" pitchFamily="34" charset="-120"/>
              </a:rPr>
              <a:t>2020 baseline: 2.25
</a:t>
            </a:r>
            <a:r>
              <a:rPr lang="en-US" sz="900" dirty="0">
                <a:solidFill>
                  <a:srgbClr val="64748B"/>
                </a:solidFill>
                <a:latin typeface="Calibri" pitchFamily="34" charset="0"/>
                <a:ea typeface="Calibri" pitchFamily="34" charset="-122"/>
                <a:cs typeface="Calibri" pitchFamily="34" charset="-120"/>
              </a:rPr>
              <a:t>Starting point — relatively lower fall rate before bed occupancy reached its peak.</a:t>
            </a:r>
            <a:endParaRPr lang="en-US" sz="900" dirty="0"/>
          </a:p>
        </p:txBody>
      </p:sp>
      <p:sp>
        <p:nvSpPr>
          <p:cNvPr id="8" name="Shape 5"/>
          <p:cNvSpPr/>
          <p:nvPr/>
        </p:nvSpPr>
        <p:spPr>
          <a:xfrm>
            <a:off x="5532120" y="1773936"/>
            <a:ext cx="3291840" cy="1005840"/>
          </a:xfrm>
          <a:prstGeom prst="roundRect">
            <a:avLst>
              <a:gd name="adj" fmla="val 5455"/>
            </a:avLst>
          </a:prstGeom>
          <a:solidFill>
            <a:srgbClr val="E8F4F6"/>
          </a:solidFill>
          <a:ln w="12700">
            <a:solidFill>
              <a:srgbClr val="CBD9DB"/>
            </a:solidFill>
            <a:prstDash val="solid"/>
          </a:ln>
        </p:spPr>
      </p:sp>
      <p:sp>
        <p:nvSpPr>
          <p:cNvPr id="9" name="Text 6"/>
          <p:cNvSpPr/>
          <p:nvPr/>
        </p:nvSpPr>
        <p:spPr>
          <a:xfrm>
            <a:off x="5623560" y="1801368"/>
            <a:ext cx="3108960" cy="914400"/>
          </a:xfrm>
          <a:prstGeom prst="rect">
            <a:avLst/>
          </a:prstGeom>
          <a:noFill/>
          <a:ln/>
        </p:spPr>
        <p:txBody>
          <a:bodyPr wrap="square" rtlCol="0" anchor="t"/>
          <a:lstStyle/>
          <a:p>
            <a:pPr marL="0" indent="0">
              <a:buNone/>
            </a:pPr>
            <a:r>
              <a:rPr lang="en-US" sz="900" b="1" dirty="0">
                <a:solidFill>
                  <a:srgbClr val="C0392B"/>
                </a:solidFill>
                <a:latin typeface="Calibri" pitchFamily="34" charset="0"/>
                <a:ea typeface="Calibri" pitchFamily="34" charset="-122"/>
                <a:cs typeface="Calibri" pitchFamily="34" charset="-120"/>
              </a:rPr>
              <a:t>2022–23 spike: 2.81–2.82
</a:t>
            </a:r>
            <a:r>
              <a:rPr lang="en-US" sz="900" dirty="0">
                <a:solidFill>
                  <a:srgbClr val="64748B"/>
                </a:solidFill>
                <a:latin typeface="Calibri" pitchFamily="34" charset="0"/>
                <a:ea typeface="Calibri" pitchFamily="34" charset="-122"/>
                <a:cs typeface="Calibri" pitchFamily="34" charset="-120"/>
              </a:rPr>
              <a:t>Highest recorded fall rates — coinciding exactly with the lowest staff responsiveness scores. Staff stretched too thin to prevent falls.</a:t>
            </a:r>
            <a:endParaRPr lang="en-US" sz="900" dirty="0"/>
          </a:p>
        </p:txBody>
      </p:sp>
      <p:sp>
        <p:nvSpPr>
          <p:cNvPr id="10" name="Shape 7"/>
          <p:cNvSpPr/>
          <p:nvPr/>
        </p:nvSpPr>
        <p:spPr>
          <a:xfrm>
            <a:off x="5532120" y="2889504"/>
            <a:ext cx="3291840" cy="1005840"/>
          </a:xfrm>
          <a:prstGeom prst="roundRect">
            <a:avLst>
              <a:gd name="adj" fmla="val 5455"/>
            </a:avLst>
          </a:prstGeom>
          <a:solidFill>
            <a:srgbClr val="E8F4F6"/>
          </a:solidFill>
          <a:ln w="12700">
            <a:solidFill>
              <a:srgbClr val="CBD9DB"/>
            </a:solidFill>
            <a:prstDash val="solid"/>
          </a:ln>
        </p:spPr>
      </p:sp>
      <p:sp>
        <p:nvSpPr>
          <p:cNvPr id="11" name="Text 8"/>
          <p:cNvSpPr/>
          <p:nvPr/>
        </p:nvSpPr>
        <p:spPr>
          <a:xfrm>
            <a:off x="5623560" y="2916936"/>
            <a:ext cx="3108960" cy="914400"/>
          </a:xfrm>
          <a:prstGeom prst="rect">
            <a:avLst/>
          </a:prstGeom>
          <a:noFill/>
          <a:ln/>
        </p:spPr>
        <p:txBody>
          <a:bodyPr wrap="square" rtlCol="0" anchor="t"/>
          <a:lstStyle/>
          <a:p>
            <a:pPr marL="0" indent="0">
              <a:buNone/>
            </a:pPr>
            <a:r>
              <a:rPr lang="en-US" sz="900" b="1" dirty="0">
                <a:solidFill>
                  <a:srgbClr val="F4845F"/>
                </a:solidFill>
                <a:latin typeface="Calibri" pitchFamily="34" charset="0"/>
                <a:ea typeface="Calibri" pitchFamily="34" charset="-122"/>
                <a:cs typeface="Calibri" pitchFamily="34" charset="-120"/>
              </a:rPr>
              <a:t>2024 improvement: 2.57
</a:t>
            </a:r>
            <a:r>
              <a:rPr lang="en-US" sz="900" dirty="0">
                <a:solidFill>
                  <a:srgbClr val="64748B"/>
                </a:solidFill>
                <a:latin typeface="Calibri" pitchFamily="34" charset="0"/>
                <a:ea typeface="Calibri" pitchFamily="34" charset="-122"/>
                <a:cs typeface="Calibri" pitchFamily="34" charset="-120"/>
              </a:rPr>
              <a:t>A slight recovery mirrors the partial rebound in staff responsiveness. Still above baseline — sustained action needed.</a:t>
            </a:r>
            <a:endParaRPr lang="en-US" sz="900" dirty="0"/>
          </a:p>
        </p:txBody>
      </p:sp>
      <p:sp>
        <p:nvSpPr>
          <p:cNvPr id="12" name="Text 9"/>
          <p:cNvSpPr/>
          <p:nvPr/>
        </p:nvSpPr>
        <p:spPr>
          <a:xfrm>
            <a:off x="320040" y="3913632"/>
            <a:ext cx="8503920" cy="457200"/>
          </a:xfrm>
          <a:prstGeom prst="rect">
            <a:avLst/>
          </a:prstGeom>
          <a:noFill/>
          <a:ln/>
        </p:spPr>
        <p:txBody>
          <a:bodyPr wrap="square" rtlCol="0" anchor="ctr"/>
          <a:lstStyle/>
          <a:p>
            <a:pPr marL="0" indent="0">
              <a:buNone/>
            </a:pPr>
            <a:r>
              <a:rPr lang="en-US" sz="850" i="1" dirty="0">
                <a:solidFill>
                  <a:srgbClr val="64748B"/>
                </a:solidFill>
                <a:latin typeface="Calibri" pitchFamily="34" charset="0"/>
                <a:ea typeface="Calibri" pitchFamily="34" charset="-122"/>
                <a:cs typeface="Calibri" pitchFamily="34" charset="-120"/>
              </a:rPr>
              <a:t>The 'per 1,000 patient days' unit normalizes for volume — it accounts for how many patients were in hospital and for how long, so comparisons across years are fair even if total patient volume changed.</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28090"/>
          </a:solidFill>
          <a:ln w="12700">
            <a:solidFill>
              <a:srgbClr val="028090"/>
            </a:solidFill>
            <a:prstDash val="solid"/>
          </a:ln>
        </p:spPr>
      </p:sp>
      <p:sp>
        <p:nvSpPr>
          <p:cNvPr id="3" name="Text 1"/>
          <p:cNvSpPr/>
          <p:nvPr/>
        </p:nvSpPr>
        <p:spPr>
          <a:xfrm>
            <a:off x="365760" y="73152"/>
            <a:ext cx="7315200" cy="347472"/>
          </a:xfrm>
          <a:prstGeom prst="rect">
            <a:avLst/>
          </a:prstGeom>
          <a:noFill/>
          <a:ln/>
        </p:spPr>
        <p:txBody>
          <a:bodyPr wrap="square" lIns="0" tIns="0" rIns="0" bIns="0" rtlCol="0" anchor="ctr"/>
          <a:lstStyle/>
          <a:p>
            <a:pPr marL="0" indent="0">
              <a:buNone/>
            </a:pPr>
            <a:r>
              <a:rPr lang="en-US" sz="1300" b="1" kern="0" spc="200" dirty="0">
                <a:solidFill>
                  <a:srgbClr val="FFFFFF"/>
                </a:solidFill>
                <a:latin typeface="Calibri" pitchFamily="34" charset="0"/>
                <a:ea typeface="Calibri" pitchFamily="34" charset="-122"/>
                <a:cs typeface="Calibri" pitchFamily="34" charset="-120"/>
              </a:rPr>
              <a:t>STATISTICAL ANALYSIS: HOW DO THE KPIS RELATE TO EACH OTHER?</a:t>
            </a:r>
            <a:endParaRPr lang="en-US" sz="1300" dirty="0"/>
          </a:p>
        </p:txBody>
      </p:sp>
      <p:sp>
        <p:nvSpPr>
          <p:cNvPr id="4" name="Text 2"/>
          <p:cNvSpPr/>
          <p:nvPr/>
        </p:nvSpPr>
        <p:spPr>
          <a:xfrm>
            <a:off x="365760" y="512064"/>
            <a:ext cx="8412480" cy="347472"/>
          </a:xfrm>
          <a:prstGeom prst="rect">
            <a:avLst/>
          </a:prstGeom>
          <a:noFill/>
          <a:ln/>
        </p:spPr>
        <p:txBody>
          <a:bodyPr wrap="square" lIns="0" tIns="0" rIns="0" bIns="0" rtlCol="0" anchor="ctr"/>
          <a:lstStyle/>
          <a:p>
            <a:pPr marL="0" indent="0">
              <a:buNone/>
            </a:pPr>
            <a:r>
              <a:rPr lang="en-US" sz="1100" i="1" dirty="0">
                <a:solidFill>
                  <a:srgbClr val="64748B"/>
                </a:solidFill>
                <a:latin typeface="Calibri" pitchFamily="34" charset="0"/>
                <a:ea typeface="Calibri" pitchFamily="34" charset="-122"/>
                <a:cs typeface="Calibri" pitchFamily="34" charset="-120"/>
              </a:rPr>
              <a:t>Pearson correlation coefficients reveal the strength and direction of relationships</a:t>
            </a:r>
            <a:endParaRPr lang="en-US" sz="1100" dirty="0"/>
          </a:p>
        </p:txBody>
      </p:sp>
      <p:pic>
        <p:nvPicPr>
          <p:cNvPr id="5" name="Image 0" descr="/mnt/user-data/uploads/1782540238289_image.png"/>
          <p:cNvPicPr>
            <a:picLocks noChangeAspect="1"/>
          </p:cNvPicPr>
          <p:nvPr/>
        </p:nvPicPr>
        <p:blipFill>
          <a:blip r:embed="rId3"/>
          <a:stretch>
            <a:fillRect/>
          </a:stretch>
        </p:blipFill>
        <p:spPr>
          <a:xfrm>
            <a:off x="274320" y="804672"/>
            <a:ext cx="4206240" cy="2834640"/>
          </a:xfrm>
          <a:prstGeom prst="rect">
            <a:avLst/>
          </a:prstGeom>
        </p:spPr>
      </p:pic>
      <p:pic>
        <p:nvPicPr>
          <p:cNvPr id="6" name="Image 1" descr="/mnt/user-data/uploads/1782540249820_image.png"/>
          <p:cNvPicPr>
            <a:picLocks noChangeAspect="1"/>
          </p:cNvPicPr>
          <p:nvPr/>
        </p:nvPicPr>
        <p:blipFill>
          <a:blip r:embed="rId4"/>
          <a:stretch>
            <a:fillRect/>
          </a:stretch>
        </p:blipFill>
        <p:spPr>
          <a:xfrm>
            <a:off x="4663440" y="804672"/>
            <a:ext cx="4206240" cy="2834640"/>
          </a:xfrm>
          <a:prstGeom prst="rect">
            <a:avLst/>
          </a:prstGeom>
        </p:spPr>
      </p:pic>
      <p:sp>
        <p:nvSpPr>
          <p:cNvPr id="7" name="Shape 3"/>
          <p:cNvSpPr/>
          <p:nvPr/>
        </p:nvSpPr>
        <p:spPr>
          <a:xfrm>
            <a:off x="274320" y="3547872"/>
            <a:ext cx="4206240" cy="822960"/>
          </a:xfrm>
          <a:prstGeom prst="roundRect">
            <a:avLst>
              <a:gd name="adj" fmla="val 6667"/>
            </a:avLst>
          </a:prstGeom>
          <a:solidFill>
            <a:srgbClr val="0D2137"/>
          </a:solidFill>
          <a:ln w="12700">
            <a:solidFill>
              <a:srgbClr val="0D2137"/>
            </a:solidFill>
            <a:prstDash val="solid"/>
          </a:ln>
        </p:spPr>
      </p:sp>
      <p:sp>
        <p:nvSpPr>
          <p:cNvPr id="8" name="Text 4"/>
          <p:cNvSpPr/>
          <p:nvPr/>
        </p:nvSpPr>
        <p:spPr>
          <a:xfrm>
            <a:off x="365760" y="3566160"/>
            <a:ext cx="4023360" cy="786384"/>
          </a:xfrm>
          <a:prstGeom prst="rect">
            <a:avLst/>
          </a:prstGeom>
          <a:noFill/>
          <a:ln/>
        </p:spPr>
        <p:txBody>
          <a:bodyPr wrap="square" rtlCol="0" anchor="ctr"/>
          <a:lstStyle/>
          <a:p>
            <a:pPr marL="0" indent="0">
              <a:buNone/>
            </a:pPr>
            <a:r>
              <a:rPr lang="en-US" sz="1100" b="1" dirty="0">
                <a:solidFill>
                  <a:srgbClr val="02C39A"/>
                </a:solidFill>
                <a:latin typeface="Calibri" pitchFamily="34" charset="0"/>
                <a:ea typeface="Calibri" pitchFamily="34" charset="-122"/>
                <a:cs typeface="Calibri" pitchFamily="34" charset="-120"/>
              </a:rPr>
              <a:t>r = −0.791  |  Strong Negative Correlation
</a:t>
            </a:r>
            <a:r>
              <a:rPr lang="en-US" sz="800" dirty="0">
                <a:solidFill>
                  <a:srgbClr val="AECDD4"/>
                </a:solidFill>
                <a:latin typeface="Calibri" pitchFamily="34" charset="0"/>
                <a:ea typeface="Calibri" pitchFamily="34" charset="-122"/>
                <a:cs typeface="Calibri" pitchFamily="34" charset="-120"/>
              </a:rPr>
              <a:t>When unassisted falls increase, staff responsiveness drops sharply. Staff overwhelmed = patients falling unattended. Each 1% rise in fall rate coincides with a measurable dip in responsiveness score.</a:t>
            </a:r>
            <a:endParaRPr lang="en-US" sz="1100" dirty="0"/>
          </a:p>
        </p:txBody>
      </p:sp>
      <p:sp>
        <p:nvSpPr>
          <p:cNvPr id="9" name="Shape 5"/>
          <p:cNvSpPr/>
          <p:nvPr/>
        </p:nvSpPr>
        <p:spPr>
          <a:xfrm>
            <a:off x="4663440" y="3547872"/>
            <a:ext cx="4206240" cy="822960"/>
          </a:xfrm>
          <a:prstGeom prst="roundRect">
            <a:avLst>
              <a:gd name="adj" fmla="val 6667"/>
            </a:avLst>
          </a:prstGeom>
          <a:solidFill>
            <a:srgbClr val="F4845F"/>
          </a:solidFill>
          <a:ln w="12700">
            <a:solidFill>
              <a:srgbClr val="F4845F"/>
            </a:solidFill>
            <a:prstDash val="solid"/>
          </a:ln>
        </p:spPr>
      </p:sp>
      <p:sp>
        <p:nvSpPr>
          <p:cNvPr id="10" name="Text 6"/>
          <p:cNvSpPr/>
          <p:nvPr/>
        </p:nvSpPr>
        <p:spPr>
          <a:xfrm>
            <a:off x="4754880" y="3566160"/>
            <a:ext cx="4023360" cy="786384"/>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r = +0.700  |  Strong Positive Correlation
</a:t>
            </a:r>
            <a:r>
              <a:rPr lang="en-US" sz="800" dirty="0">
                <a:solidFill>
                  <a:srgbClr val="FFF0EA"/>
                </a:solidFill>
                <a:latin typeface="Calibri" pitchFamily="34" charset="0"/>
                <a:ea typeface="Calibri" pitchFamily="34" charset="-122"/>
                <a:cs typeface="Calibri" pitchFamily="34" charset="-120"/>
              </a:rPr>
              <a:t>Higher bed occupancy directly drives more unassisted falls. As the hospital fills up, nursing staff are spread too thin — patients attempting to move independently without waiting for help.</a:t>
            </a:r>
            <a:endParaRPr lang="en-US" sz="1100" dirty="0"/>
          </a:p>
        </p:txBody>
      </p:sp>
      <p:sp>
        <p:nvSpPr>
          <p:cNvPr id="11" name="Text 7"/>
          <p:cNvSpPr/>
          <p:nvPr/>
        </p:nvSpPr>
        <p:spPr>
          <a:xfrm>
            <a:off x="274320" y="4434840"/>
            <a:ext cx="8549640" cy="457200"/>
          </a:xfrm>
          <a:prstGeom prst="rect">
            <a:avLst/>
          </a:prstGeom>
          <a:noFill/>
          <a:ln/>
        </p:spPr>
        <p:txBody>
          <a:bodyPr wrap="square" rtlCol="0" anchor="ctr"/>
          <a:lstStyle/>
          <a:p>
            <a:pPr marL="0" indent="0">
              <a:buNone/>
            </a:pPr>
            <a:r>
              <a:rPr lang="en-US" sz="850" i="1" dirty="0">
                <a:solidFill>
                  <a:srgbClr val="64748B"/>
                </a:solidFill>
                <a:latin typeface="Calibri" pitchFamily="34" charset="0"/>
                <a:ea typeface="Calibri" pitchFamily="34" charset="-122"/>
                <a:cs typeface="Calibri" pitchFamily="34" charset="-120"/>
              </a:rPr>
              <a:t>How to read scatter plots: Each dot is one month of data. The orange diagonal line is the linear regression (trend line). Dots clustering tightly around this line indicate a strong relationship. The Pearson r value (−1 to +1) quantifies strength: |r| &gt; 0.7 is considered a strong correlation.</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28090"/>
          </a:solidFill>
          <a:ln w="12700">
            <a:solidFill>
              <a:srgbClr val="028090"/>
            </a:solidFill>
            <a:prstDash val="solid"/>
          </a:ln>
        </p:spPr>
      </p:sp>
      <p:sp>
        <p:nvSpPr>
          <p:cNvPr id="3" name="Text 1"/>
          <p:cNvSpPr/>
          <p:nvPr/>
        </p:nvSpPr>
        <p:spPr>
          <a:xfrm>
            <a:off x="365760" y="73152"/>
            <a:ext cx="7315200" cy="347472"/>
          </a:xfrm>
          <a:prstGeom prst="rect">
            <a:avLst/>
          </a:prstGeom>
          <a:noFill/>
          <a:ln/>
        </p:spPr>
        <p:txBody>
          <a:bodyPr wrap="square" lIns="0" tIns="0" rIns="0" bIns="0" rtlCol="0" anchor="ctr"/>
          <a:lstStyle/>
          <a:p>
            <a:pPr marL="0" indent="0">
              <a:buNone/>
            </a:pPr>
            <a:r>
              <a:rPr lang="en-US" sz="1300" b="1" kern="0" spc="200" dirty="0">
                <a:solidFill>
                  <a:srgbClr val="FFFFFF"/>
                </a:solidFill>
                <a:latin typeface="Calibri" pitchFamily="34" charset="0"/>
                <a:ea typeface="Calibri" pitchFamily="34" charset="-122"/>
                <a:cs typeface="Calibri" pitchFamily="34" charset="-120"/>
              </a:rPr>
              <a:t>SEASONAL TRENDS: FALL RATE &amp; STAFF RESPONSIVENESS BY MONTH</a:t>
            </a:r>
            <a:endParaRPr lang="en-US" sz="1300" dirty="0"/>
          </a:p>
        </p:txBody>
      </p:sp>
      <p:sp>
        <p:nvSpPr>
          <p:cNvPr id="4" name="Text 2"/>
          <p:cNvSpPr/>
          <p:nvPr/>
        </p:nvSpPr>
        <p:spPr>
          <a:xfrm>
            <a:off x="365760" y="512064"/>
            <a:ext cx="8412480" cy="347472"/>
          </a:xfrm>
          <a:prstGeom prst="rect">
            <a:avLst/>
          </a:prstGeom>
          <a:noFill/>
          <a:ln/>
        </p:spPr>
        <p:txBody>
          <a:bodyPr wrap="square" lIns="0" tIns="0" rIns="0" bIns="0" rtlCol="0" anchor="ctr"/>
          <a:lstStyle/>
          <a:p>
            <a:pPr marL="0" indent="0">
              <a:buNone/>
            </a:pPr>
            <a:r>
              <a:rPr lang="en-US" sz="1100" i="1" dirty="0">
                <a:solidFill>
                  <a:srgbClr val="64748B"/>
                </a:solidFill>
                <a:latin typeface="Calibri" pitchFamily="34" charset="0"/>
                <a:ea typeface="Calibri" pitchFamily="34" charset="-122"/>
                <a:cs typeface="Calibri" pitchFamily="34" charset="-120"/>
              </a:rPr>
              <a:t>Are there predictable times of year when the hospital is most at risk?</a:t>
            </a:r>
            <a:endParaRPr lang="en-US" sz="1100" dirty="0"/>
          </a:p>
        </p:txBody>
      </p:sp>
      <p:pic>
        <p:nvPicPr>
          <p:cNvPr id="5" name="Image 0" descr="/mnt/user-data/uploads/1782540262491_image.png"/>
          <p:cNvPicPr>
            <a:picLocks noChangeAspect="1"/>
          </p:cNvPicPr>
          <p:nvPr/>
        </p:nvPicPr>
        <p:blipFill>
          <a:blip r:embed="rId3"/>
          <a:stretch>
            <a:fillRect/>
          </a:stretch>
        </p:blipFill>
        <p:spPr>
          <a:xfrm>
            <a:off x="274320" y="859536"/>
            <a:ext cx="5669280" cy="2926080"/>
          </a:xfrm>
          <a:prstGeom prst="rect">
            <a:avLst/>
          </a:prstGeom>
        </p:spPr>
      </p:pic>
      <p:sp>
        <p:nvSpPr>
          <p:cNvPr id="6" name="Shape 3"/>
          <p:cNvSpPr/>
          <p:nvPr/>
        </p:nvSpPr>
        <p:spPr>
          <a:xfrm>
            <a:off x="6080760" y="658368"/>
            <a:ext cx="2743200" cy="2926080"/>
          </a:xfrm>
          <a:prstGeom prst="roundRect">
            <a:avLst>
              <a:gd name="adj" fmla="val 2667"/>
            </a:avLst>
          </a:prstGeom>
          <a:solidFill>
            <a:srgbClr val="0D2137"/>
          </a:solidFill>
          <a:ln w="12700">
            <a:solidFill>
              <a:srgbClr val="0D2137"/>
            </a:solidFill>
            <a:prstDash val="solid"/>
          </a:ln>
        </p:spPr>
      </p:sp>
      <p:sp>
        <p:nvSpPr>
          <p:cNvPr id="7" name="Text 4"/>
          <p:cNvSpPr/>
          <p:nvPr/>
        </p:nvSpPr>
        <p:spPr>
          <a:xfrm>
            <a:off x="6199632" y="749808"/>
            <a:ext cx="2514600" cy="256032"/>
          </a:xfrm>
          <a:prstGeom prst="rect">
            <a:avLst/>
          </a:prstGeom>
          <a:noFill/>
          <a:ln/>
        </p:spPr>
        <p:txBody>
          <a:bodyPr wrap="square" lIns="0" tIns="0" rIns="0" bIns="0" rtlCol="0" anchor="ctr"/>
          <a:lstStyle/>
          <a:p>
            <a:pPr marL="0" indent="0">
              <a:buNone/>
            </a:pPr>
            <a:r>
              <a:rPr lang="en-US" sz="1000" b="1" dirty="0">
                <a:solidFill>
                  <a:srgbClr val="02C39A"/>
                </a:solidFill>
                <a:latin typeface="Calibri" pitchFamily="34" charset="0"/>
                <a:ea typeface="Calibri" pitchFamily="34" charset="-122"/>
                <a:cs typeface="Calibri" pitchFamily="34" charset="-120"/>
              </a:rPr>
              <a:t>Seasonal Patterns</a:t>
            </a:r>
            <a:endParaRPr lang="en-US" sz="1000" dirty="0"/>
          </a:p>
        </p:txBody>
      </p:sp>
      <p:sp>
        <p:nvSpPr>
          <p:cNvPr id="8" name="Text 5"/>
          <p:cNvSpPr/>
          <p:nvPr/>
        </p:nvSpPr>
        <p:spPr>
          <a:xfrm>
            <a:off x="6199632" y="1051560"/>
            <a:ext cx="2514600" cy="2423160"/>
          </a:xfrm>
          <a:prstGeom prst="rect">
            <a:avLst/>
          </a:prstGeom>
          <a:noFill/>
          <a:ln/>
        </p:spPr>
        <p:txBody>
          <a:bodyPr wrap="square" rtlCol="0" anchor="t"/>
          <a:lstStyle/>
          <a:p>
            <a:pPr marL="0" indent="0">
              <a:buNone/>
            </a:pPr>
            <a:r>
              <a:rPr lang="en-US" sz="850" b="1" dirty="0">
                <a:solidFill>
                  <a:srgbClr val="F4845F"/>
                </a:solidFill>
                <a:latin typeface="Calibri" pitchFamily="34" charset="0"/>
                <a:ea typeface="Calibri" pitchFamily="34" charset="-122"/>
                <a:cs typeface="Calibri" pitchFamily="34" charset="-120"/>
              </a:rPr>
              <a:t>High-risk months:
</a:t>
            </a:r>
            <a:r>
              <a:rPr lang="en-US" sz="850" dirty="0">
                <a:solidFill>
                  <a:srgbClr val="AECDD4"/>
                </a:solidFill>
                <a:latin typeface="Calibri" pitchFamily="34" charset="0"/>
                <a:ea typeface="Calibri" pitchFamily="34" charset="-122"/>
                <a:cs typeface="Calibri" pitchFamily="34" charset="-120"/>
              </a:rPr>
              <a:t>Jan, Feb, Sep, Dec show elevated fall rates alongside lower staff responsiveness — a consistent inverse pattern across years.
</a:t>
            </a:r>
            <a:r>
              <a:rPr lang="en-US" sz="850" b="1" dirty="0">
                <a:solidFill>
                  <a:srgbClr val="02C39A"/>
                </a:solidFill>
                <a:latin typeface="Calibri" pitchFamily="34" charset="0"/>
                <a:ea typeface="Calibri" pitchFamily="34" charset="-122"/>
                <a:cs typeface="Calibri" pitchFamily="34" charset="-120"/>
              </a:rPr>
              <a:t>Lower-risk window:
</a:t>
            </a:r>
            <a:r>
              <a:rPr lang="en-US" sz="850" dirty="0">
                <a:solidFill>
                  <a:srgbClr val="AECDD4"/>
                </a:solidFill>
                <a:latin typeface="Calibri" pitchFamily="34" charset="0"/>
                <a:ea typeface="Calibri" pitchFamily="34" charset="-122"/>
                <a:cs typeface="Calibri" pitchFamily="34" charset="-120"/>
              </a:rPr>
              <a:t>Mar–May and Jul–Aug see relatively better responsiveness scores with moderate fall rates.
</a:t>
            </a:r>
            <a:r>
              <a:rPr lang="en-US" sz="850" b="1" dirty="0">
                <a:solidFill>
                  <a:srgbClr val="FFFFFF"/>
                </a:solidFill>
                <a:latin typeface="Calibri" pitchFamily="34" charset="0"/>
                <a:ea typeface="Calibri" pitchFamily="34" charset="-122"/>
                <a:cs typeface="Calibri" pitchFamily="34" charset="-120"/>
              </a:rPr>
              <a:t>Why winter &amp; year-end?
</a:t>
            </a:r>
            <a:r>
              <a:rPr lang="en-US" sz="850" dirty="0">
                <a:solidFill>
                  <a:srgbClr val="AECDD4"/>
                </a:solidFill>
                <a:latin typeface="Calibri" pitchFamily="34" charset="0"/>
                <a:ea typeface="Calibri" pitchFamily="34" charset="-122"/>
                <a:cs typeface="Calibri" pitchFamily="34" charset="-120"/>
              </a:rPr>
              <a:t>Flu season drives higher admissions. Holiday staffing shortfalls reduce nurse availability. Year-end budget constraints may limit float pool access.</a:t>
            </a:r>
            <a:endParaRPr lang="en-US" sz="850" dirty="0"/>
          </a:p>
        </p:txBody>
      </p:sp>
      <p:sp>
        <p:nvSpPr>
          <p:cNvPr id="9" name="Text 6"/>
          <p:cNvSpPr/>
          <p:nvPr/>
        </p:nvSpPr>
        <p:spPr>
          <a:xfrm>
            <a:off x="274320" y="3639312"/>
            <a:ext cx="8549640" cy="502920"/>
          </a:xfrm>
          <a:prstGeom prst="rect">
            <a:avLst/>
          </a:prstGeom>
          <a:noFill/>
          <a:ln/>
        </p:spPr>
        <p:txBody>
          <a:bodyPr wrap="square" rtlCol="0" anchor="ctr"/>
          <a:lstStyle/>
          <a:p>
            <a:pPr marL="0" indent="0">
              <a:buNone/>
            </a:pPr>
            <a:r>
              <a:rPr lang="en-US" sz="850" i="1" dirty="0">
                <a:solidFill>
                  <a:srgbClr val="64748B"/>
                </a:solidFill>
                <a:latin typeface="Calibri" pitchFamily="34" charset="0"/>
                <a:ea typeface="Calibri" pitchFamily="34" charset="-122"/>
                <a:cs typeface="Calibri" pitchFamily="34" charset="-120"/>
              </a:rPr>
              <a:t>How to read: Orange bars (left axis) = average fall rate. Teal line (right axis) = average staff responsiveness score. When bars are tall and the line dips simultaneously, it confirms the inverse relationship is not just yearly — it repeats seasonally.</a:t>
            </a:r>
            <a:endParaRPr lang="en-US" sz="850" dirty="0"/>
          </a:p>
        </p:txBody>
      </p:sp>
      <p:sp>
        <p:nvSpPr>
          <p:cNvPr id="10" name="Shape 7"/>
          <p:cNvSpPr/>
          <p:nvPr/>
        </p:nvSpPr>
        <p:spPr>
          <a:xfrm>
            <a:off x="320040" y="4206240"/>
            <a:ext cx="1234440" cy="566928"/>
          </a:xfrm>
          <a:prstGeom prst="roundRect">
            <a:avLst>
              <a:gd name="adj" fmla="val 8065"/>
            </a:avLst>
          </a:prstGeom>
          <a:solidFill>
            <a:srgbClr val="E8F4F6"/>
          </a:solidFill>
          <a:ln w="12700">
            <a:solidFill>
              <a:srgbClr val="CBD9DB"/>
            </a:solidFill>
            <a:prstDash val="solid"/>
          </a:ln>
        </p:spPr>
      </p:sp>
      <p:sp>
        <p:nvSpPr>
          <p:cNvPr id="11" name="Text 8"/>
          <p:cNvSpPr/>
          <p:nvPr/>
        </p:nvSpPr>
        <p:spPr>
          <a:xfrm>
            <a:off x="320040" y="4224528"/>
            <a:ext cx="1234440" cy="256032"/>
          </a:xfrm>
          <a:prstGeom prst="rect">
            <a:avLst/>
          </a:prstGeom>
          <a:noFill/>
          <a:ln/>
        </p:spPr>
        <p:txBody>
          <a:bodyPr wrap="square" lIns="0" tIns="0" rIns="0" bIns="0" rtlCol="0" anchor="ctr"/>
          <a:lstStyle/>
          <a:p>
            <a:pPr marL="0" indent="0" algn="ctr">
              <a:buNone/>
            </a:pPr>
            <a:r>
              <a:rPr lang="en-US" sz="1100" b="1" dirty="0">
                <a:solidFill>
                  <a:srgbClr val="C0392B"/>
                </a:solidFill>
                <a:latin typeface="Calibri" pitchFamily="34" charset="0"/>
                <a:ea typeface="Calibri" pitchFamily="34" charset="-122"/>
                <a:cs typeface="Calibri" pitchFamily="34" charset="-120"/>
              </a:rPr>
              <a:t>JAN</a:t>
            </a:r>
            <a:endParaRPr lang="en-US" sz="1100" dirty="0"/>
          </a:p>
        </p:txBody>
      </p:sp>
      <p:sp>
        <p:nvSpPr>
          <p:cNvPr id="12" name="Text 9"/>
          <p:cNvSpPr/>
          <p:nvPr/>
        </p:nvSpPr>
        <p:spPr>
          <a:xfrm>
            <a:off x="320040" y="4480560"/>
            <a:ext cx="1234440" cy="256032"/>
          </a:xfrm>
          <a:prstGeom prst="rect">
            <a:avLst/>
          </a:prstGeom>
          <a:noFill/>
          <a:ln/>
        </p:spPr>
        <p:txBody>
          <a:bodyPr wrap="square" lIns="0" tIns="0" rIns="0" bIns="0" rtlCol="0" anchor="ctr"/>
          <a:lstStyle/>
          <a:p>
            <a:pPr marL="0" indent="0" algn="ctr">
              <a:buNone/>
            </a:pPr>
            <a:r>
              <a:rPr lang="en-US" sz="750" dirty="0">
                <a:solidFill>
                  <a:srgbClr val="64748B"/>
                </a:solidFill>
                <a:latin typeface="Calibri" pitchFamily="34" charset="0"/>
                <a:ea typeface="Calibri" pitchFamily="34" charset="-122"/>
                <a:cs typeface="Calibri" pitchFamily="34" charset="-120"/>
              </a:rPr>
              <a:t>High risk</a:t>
            </a:r>
            <a:endParaRPr lang="en-US" sz="750" dirty="0"/>
          </a:p>
        </p:txBody>
      </p:sp>
      <p:sp>
        <p:nvSpPr>
          <p:cNvPr id="13" name="Shape 10"/>
          <p:cNvSpPr/>
          <p:nvPr/>
        </p:nvSpPr>
        <p:spPr>
          <a:xfrm>
            <a:off x="1709928" y="4206240"/>
            <a:ext cx="1234440" cy="566928"/>
          </a:xfrm>
          <a:prstGeom prst="roundRect">
            <a:avLst>
              <a:gd name="adj" fmla="val 8065"/>
            </a:avLst>
          </a:prstGeom>
          <a:solidFill>
            <a:srgbClr val="E8F4F6"/>
          </a:solidFill>
          <a:ln w="12700">
            <a:solidFill>
              <a:srgbClr val="CBD9DB"/>
            </a:solidFill>
            <a:prstDash val="solid"/>
          </a:ln>
        </p:spPr>
      </p:sp>
      <p:sp>
        <p:nvSpPr>
          <p:cNvPr id="14" name="Text 11"/>
          <p:cNvSpPr/>
          <p:nvPr/>
        </p:nvSpPr>
        <p:spPr>
          <a:xfrm>
            <a:off x="1709928" y="4224528"/>
            <a:ext cx="1234440" cy="256032"/>
          </a:xfrm>
          <a:prstGeom prst="rect">
            <a:avLst/>
          </a:prstGeom>
          <a:noFill/>
          <a:ln/>
        </p:spPr>
        <p:txBody>
          <a:bodyPr wrap="square" lIns="0" tIns="0" rIns="0" bIns="0" rtlCol="0" anchor="ctr"/>
          <a:lstStyle/>
          <a:p>
            <a:pPr marL="0" indent="0" algn="ctr">
              <a:buNone/>
            </a:pPr>
            <a:r>
              <a:rPr lang="en-US" sz="1100" b="1" dirty="0">
                <a:solidFill>
                  <a:srgbClr val="C0392B"/>
                </a:solidFill>
                <a:latin typeface="Calibri" pitchFamily="34" charset="0"/>
                <a:ea typeface="Calibri" pitchFamily="34" charset="-122"/>
                <a:cs typeface="Calibri" pitchFamily="34" charset="-120"/>
              </a:rPr>
              <a:t>SEP</a:t>
            </a:r>
            <a:endParaRPr lang="en-US" sz="1100" dirty="0"/>
          </a:p>
        </p:txBody>
      </p:sp>
      <p:sp>
        <p:nvSpPr>
          <p:cNvPr id="15" name="Text 12"/>
          <p:cNvSpPr/>
          <p:nvPr/>
        </p:nvSpPr>
        <p:spPr>
          <a:xfrm>
            <a:off x="1709928" y="4480560"/>
            <a:ext cx="1234440" cy="256032"/>
          </a:xfrm>
          <a:prstGeom prst="rect">
            <a:avLst/>
          </a:prstGeom>
          <a:noFill/>
          <a:ln/>
        </p:spPr>
        <p:txBody>
          <a:bodyPr wrap="square" lIns="0" tIns="0" rIns="0" bIns="0" rtlCol="0" anchor="ctr"/>
          <a:lstStyle/>
          <a:p>
            <a:pPr marL="0" indent="0" algn="ctr">
              <a:buNone/>
            </a:pPr>
            <a:r>
              <a:rPr lang="en-US" sz="750" dirty="0">
                <a:solidFill>
                  <a:srgbClr val="64748B"/>
                </a:solidFill>
                <a:latin typeface="Calibri" pitchFamily="34" charset="0"/>
                <a:ea typeface="Calibri" pitchFamily="34" charset="-122"/>
                <a:cs typeface="Calibri" pitchFamily="34" charset="-120"/>
              </a:rPr>
              <a:t>Lowest resp.</a:t>
            </a:r>
            <a:endParaRPr lang="en-US" sz="750" dirty="0"/>
          </a:p>
        </p:txBody>
      </p:sp>
      <p:sp>
        <p:nvSpPr>
          <p:cNvPr id="16" name="Shape 13"/>
          <p:cNvSpPr/>
          <p:nvPr/>
        </p:nvSpPr>
        <p:spPr>
          <a:xfrm>
            <a:off x="3099816" y="4206240"/>
            <a:ext cx="1234440" cy="566928"/>
          </a:xfrm>
          <a:prstGeom prst="roundRect">
            <a:avLst>
              <a:gd name="adj" fmla="val 8065"/>
            </a:avLst>
          </a:prstGeom>
          <a:solidFill>
            <a:srgbClr val="E8F4F6"/>
          </a:solidFill>
          <a:ln w="12700">
            <a:solidFill>
              <a:srgbClr val="CBD9DB"/>
            </a:solidFill>
            <a:prstDash val="solid"/>
          </a:ln>
        </p:spPr>
      </p:sp>
      <p:sp>
        <p:nvSpPr>
          <p:cNvPr id="17" name="Text 14"/>
          <p:cNvSpPr/>
          <p:nvPr/>
        </p:nvSpPr>
        <p:spPr>
          <a:xfrm>
            <a:off x="3099816" y="4224528"/>
            <a:ext cx="1234440" cy="256032"/>
          </a:xfrm>
          <a:prstGeom prst="rect">
            <a:avLst/>
          </a:prstGeom>
          <a:noFill/>
          <a:ln/>
        </p:spPr>
        <p:txBody>
          <a:bodyPr wrap="square" lIns="0" tIns="0" rIns="0" bIns="0" rtlCol="0" anchor="ctr"/>
          <a:lstStyle/>
          <a:p>
            <a:pPr marL="0" indent="0" algn="ctr">
              <a:buNone/>
            </a:pPr>
            <a:r>
              <a:rPr lang="en-US" sz="1100" b="1" dirty="0">
                <a:solidFill>
                  <a:srgbClr val="028090"/>
                </a:solidFill>
                <a:latin typeface="Calibri" pitchFamily="34" charset="0"/>
                <a:ea typeface="Calibri" pitchFamily="34" charset="-122"/>
                <a:cs typeface="Calibri" pitchFamily="34" charset="-120"/>
              </a:rPr>
              <a:t>APR</a:t>
            </a:r>
            <a:endParaRPr lang="en-US" sz="1100" dirty="0"/>
          </a:p>
        </p:txBody>
      </p:sp>
      <p:sp>
        <p:nvSpPr>
          <p:cNvPr id="18" name="Text 15"/>
          <p:cNvSpPr/>
          <p:nvPr/>
        </p:nvSpPr>
        <p:spPr>
          <a:xfrm>
            <a:off x="3099816" y="4480560"/>
            <a:ext cx="1234440" cy="256032"/>
          </a:xfrm>
          <a:prstGeom prst="rect">
            <a:avLst/>
          </a:prstGeom>
          <a:noFill/>
          <a:ln/>
        </p:spPr>
        <p:txBody>
          <a:bodyPr wrap="square" lIns="0" tIns="0" rIns="0" bIns="0" rtlCol="0" anchor="ctr"/>
          <a:lstStyle/>
          <a:p>
            <a:pPr marL="0" indent="0" algn="ctr">
              <a:buNone/>
            </a:pPr>
            <a:r>
              <a:rPr lang="en-US" sz="750" dirty="0">
                <a:solidFill>
                  <a:srgbClr val="64748B"/>
                </a:solidFill>
                <a:latin typeface="Calibri" pitchFamily="34" charset="0"/>
                <a:ea typeface="Calibri" pitchFamily="34" charset="-122"/>
                <a:cs typeface="Calibri" pitchFamily="34" charset="-120"/>
              </a:rPr>
              <a:t>Best resp.</a:t>
            </a:r>
            <a:endParaRPr lang="en-US" sz="750" dirty="0"/>
          </a:p>
        </p:txBody>
      </p:sp>
      <p:sp>
        <p:nvSpPr>
          <p:cNvPr id="19" name="Shape 16"/>
          <p:cNvSpPr/>
          <p:nvPr/>
        </p:nvSpPr>
        <p:spPr>
          <a:xfrm>
            <a:off x="4489704" y="4206240"/>
            <a:ext cx="1234440" cy="566928"/>
          </a:xfrm>
          <a:prstGeom prst="roundRect">
            <a:avLst>
              <a:gd name="adj" fmla="val 8065"/>
            </a:avLst>
          </a:prstGeom>
          <a:solidFill>
            <a:srgbClr val="E8F4F6"/>
          </a:solidFill>
          <a:ln w="12700">
            <a:solidFill>
              <a:srgbClr val="CBD9DB"/>
            </a:solidFill>
            <a:prstDash val="solid"/>
          </a:ln>
        </p:spPr>
      </p:sp>
      <p:sp>
        <p:nvSpPr>
          <p:cNvPr id="20" name="Text 17"/>
          <p:cNvSpPr/>
          <p:nvPr/>
        </p:nvSpPr>
        <p:spPr>
          <a:xfrm>
            <a:off x="4489704" y="4224528"/>
            <a:ext cx="1234440" cy="256032"/>
          </a:xfrm>
          <a:prstGeom prst="rect">
            <a:avLst/>
          </a:prstGeom>
          <a:noFill/>
          <a:ln/>
        </p:spPr>
        <p:txBody>
          <a:bodyPr wrap="square" lIns="0" tIns="0" rIns="0" bIns="0" rtlCol="0" anchor="ctr"/>
          <a:lstStyle/>
          <a:p>
            <a:pPr marL="0" indent="0" algn="ctr">
              <a:buNone/>
            </a:pPr>
            <a:r>
              <a:rPr lang="en-US" sz="1100" b="1" dirty="0">
                <a:solidFill>
                  <a:srgbClr val="F4845F"/>
                </a:solidFill>
                <a:latin typeface="Calibri" pitchFamily="34" charset="0"/>
                <a:ea typeface="Calibri" pitchFamily="34" charset="-122"/>
                <a:cs typeface="Calibri" pitchFamily="34" charset="-120"/>
              </a:rPr>
              <a:t>DEC</a:t>
            </a:r>
            <a:endParaRPr lang="en-US" sz="1100" dirty="0"/>
          </a:p>
        </p:txBody>
      </p:sp>
      <p:sp>
        <p:nvSpPr>
          <p:cNvPr id="21" name="Text 18"/>
          <p:cNvSpPr/>
          <p:nvPr/>
        </p:nvSpPr>
        <p:spPr>
          <a:xfrm>
            <a:off x="4489704" y="4480560"/>
            <a:ext cx="1234440" cy="256032"/>
          </a:xfrm>
          <a:prstGeom prst="rect">
            <a:avLst/>
          </a:prstGeom>
          <a:noFill/>
          <a:ln/>
        </p:spPr>
        <p:txBody>
          <a:bodyPr wrap="square" lIns="0" tIns="0" rIns="0" bIns="0" rtlCol="0" anchor="ctr"/>
          <a:lstStyle/>
          <a:p>
            <a:pPr marL="0" indent="0" algn="ctr">
              <a:buNone/>
            </a:pPr>
            <a:r>
              <a:rPr lang="en-US" sz="750" dirty="0">
                <a:solidFill>
                  <a:srgbClr val="64748B"/>
                </a:solidFill>
                <a:latin typeface="Calibri" pitchFamily="34" charset="0"/>
                <a:ea typeface="Calibri" pitchFamily="34" charset="-122"/>
                <a:cs typeface="Calibri" pitchFamily="34" charset="-120"/>
              </a:rPr>
              <a:t>High risk</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F7F9"/>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28090"/>
          </a:solidFill>
          <a:ln w="12700">
            <a:solidFill>
              <a:srgbClr val="028090"/>
            </a:solidFill>
            <a:prstDash val="solid"/>
          </a:ln>
        </p:spPr>
      </p:sp>
      <p:sp>
        <p:nvSpPr>
          <p:cNvPr id="3" name="Text 1"/>
          <p:cNvSpPr/>
          <p:nvPr/>
        </p:nvSpPr>
        <p:spPr>
          <a:xfrm>
            <a:off x="365760" y="73152"/>
            <a:ext cx="7315200" cy="347472"/>
          </a:xfrm>
          <a:prstGeom prst="rect">
            <a:avLst/>
          </a:prstGeom>
          <a:noFill/>
          <a:ln/>
        </p:spPr>
        <p:txBody>
          <a:bodyPr wrap="square" lIns="0" tIns="0" rIns="0" bIns="0" rtlCol="0" anchor="ctr"/>
          <a:lstStyle/>
          <a:p>
            <a:pPr marL="0" indent="0">
              <a:buNone/>
            </a:pPr>
            <a:r>
              <a:rPr lang="en-US" sz="1300" b="1" kern="0" spc="200" dirty="0">
                <a:solidFill>
                  <a:srgbClr val="FFFFFF"/>
                </a:solidFill>
                <a:latin typeface="Calibri" pitchFamily="34" charset="0"/>
                <a:ea typeface="Calibri" pitchFamily="34" charset="-122"/>
                <a:cs typeface="Calibri" pitchFamily="34" charset="-120"/>
              </a:rPr>
              <a:t>SOLUTIONS &amp; RECOMMENDATIONS</a:t>
            </a:r>
            <a:endParaRPr lang="en-US" sz="1300" dirty="0"/>
          </a:p>
        </p:txBody>
      </p:sp>
      <p:sp>
        <p:nvSpPr>
          <p:cNvPr id="4" name="Text 2"/>
          <p:cNvSpPr/>
          <p:nvPr/>
        </p:nvSpPr>
        <p:spPr>
          <a:xfrm>
            <a:off x="365760" y="512064"/>
            <a:ext cx="8412480" cy="347472"/>
          </a:xfrm>
          <a:prstGeom prst="rect">
            <a:avLst/>
          </a:prstGeom>
          <a:noFill/>
          <a:ln/>
        </p:spPr>
        <p:txBody>
          <a:bodyPr wrap="square" lIns="0" tIns="0" rIns="0" bIns="0" rtlCol="0" anchor="ctr"/>
          <a:lstStyle/>
          <a:p>
            <a:pPr marL="0" indent="0">
              <a:buNone/>
            </a:pPr>
            <a:r>
              <a:rPr lang="en-US" sz="1100" i="1" dirty="0">
                <a:solidFill>
                  <a:srgbClr val="64748B"/>
                </a:solidFill>
                <a:latin typeface="Calibri" pitchFamily="34" charset="0"/>
                <a:ea typeface="Calibri" pitchFamily="34" charset="-122"/>
                <a:cs typeface="Calibri" pitchFamily="34" charset="-120"/>
              </a:rPr>
              <a:t>Data-driven actions for nursing staff and hospital leadership</a:t>
            </a:r>
            <a:endParaRPr lang="en-US" sz="1100" dirty="0"/>
          </a:p>
        </p:txBody>
      </p:sp>
      <p:sp>
        <p:nvSpPr>
          <p:cNvPr id="5" name="Shape 3"/>
          <p:cNvSpPr/>
          <p:nvPr/>
        </p:nvSpPr>
        <p:spPr>
          <a:xfrm>
            <a:off x="274320" y="868680"/>
            <a:ext cx="2788920" cy="4023360"/>
          </a:xfrm>
          <a:prstGeom prst="roundRect">
            <a:avLst>
              <a:gd name="adj" fmla="val 2623"/>
            </a:avLst>
          </a:prstGeom>
          <a:solidFill>
            <a:srgbClr val="FFFFFF"/>
          </a:solidFill>
          <a:ln w="12700">
            <a:solidFill>
              <a:srgbClr val="DDEAED"/>
            </a:solidFill>
            <a:prstDash val="solid"/>
          </a:ln>
          <a:effectLst>
            <a:outerShdw blurRad="101600" dist="38100" dir="2700000" algn="bl" rotWithShape="0">
              <a:srgbClr val="000000">
                <a:alpha val="13000"/>
              </a:srgbClr>
            </a:outerShdw>
          </a:effectLst>
        </p:spPr>
      </p:sp>
      <p:sp>
        <p:nvSpPr>
          <p:cNvPr id="6" name="Shape 4"/>
          <p:cNvSpPr/>
          <p:nvPr/>
        </p:nvSpPr>
        <p:spPr>
          <a:xfrm>
            <a:off x="347472" y="932688"/>
            <a:ext cx="2642616" cy="640080"/>
          </a:xfrm>
          <a:prstGeom prst="roundRect">
            <a:avLst>
              <a:gd name="adj" fmla="val 7143"/>
            </a:avLst>
          </a:prstGeom>
          <a:solidFill>
            <a:srgbClr val="028090"/>
          </a:solidFill>
          <a:ln w="12700">
            <a:solidFill>
              <a:srgbClr val="028090"/>
            </a:solidFill>
            <a:prstDash val="solid"/>
          </a:ln>
        </p:spPr>
      </p:sp>
      <p:sp>
        <p:nvSpPr>
          <p:cNvPr id="7" name="Text 5"/>
          <p:cNvSpPr/>
          <p:nvPr/>
        </p:nvSpPr>
        <p:spPr>
          <a:xfrm>
            <a:off x="365760" y="960120"/>
            <a:ext cx="457200"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01</a:t>
            </a:r>
            <a:endParaRPr lang="en-US" sz="2200" dirty="0"/>
          </a:p>
        </p:txBody>
      </p:sp>
      <p:sp>
        <p:nvSpPr>
          <p:cNvPr id="8" name="Text 6"/>
          <p:cNvSpPr/>
          <p:nvPr/>
        </p:nvSpPr>
        <p:spPr>
          <a:xfrm>
            <a:off x="841248" y="960120"/>
            <a:ext cx="2121408" cy="566928"/>
          </a:xfrm>
          <a:prstGeom prst="rect">
            <a:avLst/>
          </a:prstGeom>
          <a:noFill/>
          <a:ln/>
        </p:spPr>
        <p:txBody>
          <a:bodyPr wrap="square" rtlCol="0" anchor="ctr"/>
          <a:lstStyle/>
          <a:p>
            <a:pPr marL="0" indent="0" algn="l">
              <a:buNone/>
            </a:pPr>
            <a:r>
              <a:rPr lang="en-US" sz="1000" b="1" dirty="0">
                <a:solidFill>
                  <a:srgbClr val="FFFFFF"/>
                </a:solidFill>
                <a:latin typeface="Calibri" pitchFamily="34" charset="0"/>
                <a:ea typeface="Calibri" pitchFamily="34" charset="-122"/>
                <a:cs typeface="Calibri" pitchFamily="34" charset="-120"/>
              </a:rPr>
              <a:t>Dynamic Staffing Models</a:t>
            </a:r>
            <a:endParaRPr lang="en-US" sz="1000" dirty="0"/>
          </a:p>
        </p:txBody>
      </p:sp>
      <p:sp>
        <p:nvSpPr>
          <p:cNvPr id="9" name="Text 7"/>
          <p:cNvSpPr/>
          <p:nvPr/>
        </p:nvSpPr>
        <p:spPr>
          <a:xfrm>
            <a:off x="411480" y="1645920"/>
            <a:ext cx="2542032" cy="3108960"/>
          </a:xfrm>
          <a:prstGeom prst="rect">
            <a:avLst/>
          </a:prstGeom>
          <a:noFill/>
          <a:ln/>
        </p:spPr>
        <p:txBody>
          <a:bodyPr wrap="square" rtlCol="0" anchor="t"/>
          <a:lstStyle/>
          <a:p>
            <a:pPr marL="0" indent="0">
              <a:buNone/>
            </a:pPr>
            <a:r>
              <a:rPr lang="en-US" sz="900" dirty="0">
                <a:solidFill>
                  <a:srgbClr val="64748B"/>
                </a:solidFill>
                <a:latin typeface="Calibri" pitchFamily="34" charset="0"/>
                <a:ea typeface="Calibri" pitchFamily="34" charset="-122"/>
                <a:cs typeface="Calibri" pitchFamily="34" charset="-120"/>
              </a:rPr>
              <a:t>When bed occupancy is forecasted to exceed 95%, automatically trigger additional support staff or float pool nurses specifically assigned to call-button coverage.</a:t>
            </a:r>
            <a:endParaRPr lang="en-US" sz="900" dirty="0"/>
          </a:p>
          <a:p>
            <a:pPr marL="0" indent="0">
              <a:buNone/>
            </a:pPr>
            <a:endParaRPr lang="en-US" sz="900" dirty="0"/>
          </a:p>
          <a:p>
            <a:pPr marL="0" indent="0">
              <a:buNone/>
            </a:pPr>
            <a:r>
              <a:rPr lang="en-US" sz="900" dirty="0">
                <a:solidFill>
                  <a:srgbClr val="64748B"/>
                </a:solidFill>
                <a:latin typeface="Calibri" pitchFamily="34" charset="0"/>
                <a:ea typeface="Calibri" pitchFamily="34" charset="-122"/>
                <a:cs typeface="Calibri" pitchFamily="34" charset="-120"/>
              </a:rPr>
              <a:t>Data rationale: r = +0.700 between occupancy and falls confirms that overfill = under-support. Pre-emptive staffing breaks this chain.</a:t>
            </a:r>
            <a:endParaRPr lang="en-US" sz="900" dirty="0"/>
          </a:p>
        </p:txBody>
      </p:sp>
      <p:sp>
        <p:nvSpPr>
          <p:cNvPr id="10" name="Shape 8"/>
          <p:cNvSpPr/>
          <p:nvPr/>
        </p:nvSpPr>
        <p:spPr>
          <a:xfrm>
            <a:off x="3182112" y="868680"/>
            <a:ext cx="2788920" cy="4023360"/>
          </a:xfrm>
          <a:prstGeom prst="roundRect">
            <a:avLst>
              <a:gd name="adj" fmla="val 2623"/>
            </a:avLst>
          </a:prstGeom>
          <a:solidFill>
            <a:srgbClr val="FFFFFF"/>
          </a:solidFill>
          <a:ln w="12700">
            <a:solidFill>
              <a:srgbClr val="DDEAED"/>
            </a:solidFill>
            <a:prstDash val="solid"/>
          </a:ln>
          <a:effectLst>
            <a:outerShdw blurRad="101600" dist="38100" dir="2700000" algn="bl" rotWithShape="0">
              <a:srgbClr val="000000">
                <a:alpha val="13000"/>
              </a:srgbClr>
            </a:outerShdw>
          </a:effectLst>
        </p:spPr>
      </p:sp>
      <p:sp>
        <p:nvSpPr>
          <p:cNvPr id="11" name="Shape 9"/>
          <p:cNvSpPr/>
          <p:nvPr/>
        </p:nvSpPr>
        <p:spPr>
          <a:xfrm>
            <a:off x="3255264" y="932688"/>
            <a:ext cx="2642616" cy="640080"/>
          </a:xfrm>
          <a:prstGeom prst="roundRect">
            <a:avLst>
              <a:gd name="adj" fmla="val 7143"/>
            </a:avLst>
          </a:prstGeom>
          <a:solidFill>
            <a:srgbClr val="0D2137"/>
          </a:solidFill>
          <a:ln w="12700">
            <a:solidFill>
              <a:srgbClr val="0D2137"/>
            </a:solidFill>
            <a:prstDash val="solid"/>
          </a:ln>
        </p:spPr>
      </p:sp>
      <p:sp>
        <p:nvSpPr>
          <p:cNvPr id="12" name="Text 10"/>
          <p:cNvSpPr/>
          <p:nvPr/>
        </p:nvSpPr>
        <p:spPr>
          <a:xfrm>
            <a:off x="3273552" y="960120"/>
            <a:ext cx="457200"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02</a:t>
            </a:r>
            <a:endParaRPr lang="en-US" sz="2200" dirty="0"/>
          </a:p>
        </p:txBody>
      </p:sp>
      <p:sp>
        <p:nvSpPr>
          <p:cNvPr id="13" name="Text 11"/>
          <p:cNvSpPr/>
          <p:nvPr/>
        </p:nvSpPr>
        <p:spPr>
          <a:xfrm>
            <a:off x="3749040" y="960120"/>
            <a:ext cx="2121408" cy="566928"/>
          </a:xfrm>
          <a:prstGeom prst="rect">
            <a:avLst/>
          </a:prstGeom>
          <a:noFill/>
          <a:ln/>
        </p:spPr>
        <p:txBody>
          <a:bodyPr wrap="square" rtlCol="0" anchor="ctr"/>
          <a:lstStyle/>
          <a:p>
            <a:pPr marL="0" indent="0" algn="l">
              <a:buNone/>
            </a:pPr>
            <a:r>
              <a:rPr lang="en-US" sz="1000" b="1" dirty="0">
                <a:solidFill>
                  <a:srgbClr val="FFFFFF"/>
                </a:solidFill>
                <a:latin typeface="Calibri" pitchFamily="34" charset="0"/>
                <a:ea typeface="Calibri" pitchFamily="34" charset="-122"/>
                <a:cs typeface="Calibri" pitchFamily="34" charset="-120"/>
              </a:rPr>
              <a:t>Proactive Bathroom Rounding</a:t>
            </a:r>
            <a:endParaRPr lang="en-US" sz="1000" dirty="0"/>
          </a:p>
        </p:txBody>
      </p:sp>
      <p:sp>
        <p:nvSpPr>
          <p:cNvPr id="14" name="Text 12"/>
          <p:cNvSpPr/>
          <p:nvPr/>
        </p:nvSpPr>
        <p:spPr>
          <a:xfrm>
            <a:off x="3319272" y="1645920"/>
            <a:ext cx="2542032" cy="3108960"/>
          </a:xfrm>
          <a:prstGeom prst="rect">
            <a:avLst/>
          </a:prstGeom>
          <a:noFill/>
          <a:ln/>
        </p:spPr>
        <p:txBody>
          <a:bodyPr wrap="square" rtlCol="0" anchor="t"/>
          <a:lstStyle/>
          <a:p>
            <a:pPr marL="0" indent="0">
              <a:buNone/>
            </a:pPr>
            <a:r>
              <a:rPr lang="en-US" sz="900" dirty="0">
                <a:solidFill>
                  <a:srgbClr val="64748B"/>
                </a:solidFill>
                <a:latin typeface="Calibri" pitchFamily="34" charset="0"/>
                <a:ea typeface="Calibri" pitchFamily="34" charset="-122"/>
                <a:cs typeface="Calibri" pitchFamily="34" charset="-120"/>
              </a:rPr>
              <a:t>During peak risk months (Jan, Sep, Dec) and during high-occupancy shifts, mandate scheduled nursing checks every 2 hours — proactively assisting patients before they attempt to move unassisted.</a:t>
            </a:r>
            <a:endParaRPr lang="en-US" sz="900" dirty="0"/>
          </a:p>
          <a:p>
            <a:pPr marL="0" indent="0">
              <a:buNone/>
            </a:pPr>
            <a:endParaRPr lang="en-US" sz="900" dirty="0"/>
          </a:p>
          <a:p>
            <a:pPr marL="0" indent="0">
              <a:buNone/>
            </a:pPr>
            <a:r>
              <a:rPr lang="en-US" sz="900" dirty="0">
                <a:solidFill>
                  <a:srgbClr val="64748B"/>
                </a:solidFill>
                <a:latin typeface="Calibri" pitchFamily="34" charset="0"/>
                <a:ea typeface="Calibri" pitchFamily="34" charset="-122"/>
                <a:cs typeface="Calibri" pitchFamily="34" charset="-120"/>
              </a:rPr>
              <a:t>Data rationale: Monthly seasonal analysis shows fall rate spikes are predictable — they can be anticipated and staffed for, not just reacted to.</a:t>
            </a:r>
            <a:endParaRPr lang="en-US" sz="900" dirty="0"/>
          </a:p>
        </p:txBody>
      </p:sp>
      <p:sp>
        <p:nvSpPr>
          <p:cNvPr id="15" name="Shape 13"/>
          <p:cNvSpPr/>
          <p:nvPr/>
        </p:nvSpPr>
        <p:spPr>
          <a:xfrm>
            <a:off x="6089904" y="868680"/>
            <a:ext cx="2788920" cy="4023360"/>
          </a:xfrm>
          <a:prstGeom prst="roundRect">
            <a:avLst>
              <a:gd name="adj" fmla="val 2623"/>
            </a:avLst>
          </a:prstGeom>
          <a:solidFill>
            <a:srgbClr val="FFFFFF"/>
          </a:solidFill>
          <a:ln w="12700">
            <a:solidFill>
              <a:srgbClr val="DDEAED"/>
            </a:solidFill>
            <a:prstDash val="solid"/>
          </a:ln>
          <a:effectLst>
            <a:outerShdw blurRad="101600" dist="38100" dir="2700000" algn="bl" rotWithShape="0">
              <a:srgbClr val="000000">
                <a:alpha val="13000"/>
              </a:srgbClr>
            </a:outerShdw>
          </a:effectLst>
        </p:spPr>
      </p:sp>
      <p:sp>
        <p:nvSpPr>
          <p:cNvPr id="16" name="Shape 14"/>
          <p:cNvSpPr/>
          <p:nvPr/>
        </p:nvSpPr>
        <p:spPr>
          <a:xfrm>
            <a:off x="6163056" y="932688"/>
            <a:ext cx="2642616" cy="640080"/>
          </a:xfrm>
          <a:prstGeom prst="roundRect">
            <a:avLst>
              <a:gd name="adj" fmla="val 7143"/>
            </a:avLst>
          </a:prstGeom>
          <a:solidFill>
            <a:srgbClr val="F4845F"/>
          </a:solidFill>
          <a:ln w="12700">
            <a:solidFill>
              <a:srgbClr val="F4845F"/>
            </a:solidFill>
            <a:prstDash val="solid"/>
          </a:ln>
        </p:spPr>
      </p:sp>
      <p:sp>
        <p:nvSpPr>
          <p:cNvPr id="17" name="Text 15"/>
          <p:cNvSpPr/>
          <p:nvPr/>
        </p:nvSpPr>
        <p:spPr>
          <a:xfrm>
            <a:off x="6181344" y="960120"/>
            <a:ext cx="457200"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03</a:t>
            </a:r>
            <a:endParaRPr lang="en-US" sz="2200" dirty="0"/>
          </a:p>
        </p:txBody>
      </p:sp>
      <p:sp>
        <p:nvSpPr>
          <p:cNvPr id="18" name="Text 16"/>
          <p:cNvSpPr/>
          <p:nvPr/>
        </p:nvSpPr>
        <p:spPr>
          <a:xfrm>
            <a:off x="6656832" y="960120"/>
            <a:ext cx="2121408" cy="566928"/>
          </a:xfrm>
          <a:prstGeom prst="rect">
            <a:avLst/>
          </a:prstGeom>
          <a:noFill/>
          <a:ln/>
        </p:spPr>
        <p:txBody>
          <a:bodyPr wrap="square" rtlCol="0" anchor="ctr"/>
          <a:lstStyle/>
          <a:p>
            <a:pPr marL="0" indent="0" algn="l">
              <a:buNone/>
            </a:pPr>
            <a:r>
              <a:rPr lang="en-US" sz="1000" b="1" dirty="0">
                <a:solidFill>
                  <a:srgbClr val="FFFFFF"/>
                </a:solidFill>
                <a:latin typeface="Calibri" pitchFamily="34" charset="0"/>
                <a:ea typeface="Calibri" pitchFamily="34" charset="-122"/>
                <a:cs typeface="Calibri" pitchFamily="34" charset="-120"/>
              </a:rPr>
              <a:t>Targeted Staff Training</a:t>
            </a:r>
            <a:endParaRPr lang="en-US" sz="1000" dirty="0"/>
          </a:p>
        </p:txBody>
      </p:sp>
      <p:sp>
        <p:nvSpPr>
          <p:cNvPr id="19" name="Text 17"/>
          <p:cNvSpPr/>
          <p:nvPr/>
        </p:nvSpPr>
        <p:spPr>
          <a:xfrm>
            <a:off x="6227064" y="1645920"/>
            <a:ext cx="2542032" cy="3108960"/>
          </a:xfrm>
          <a:prstGeom prst="rect">
            <a:avLst/>
          </a:prstGeom>
          <a:noFill/>
          <a:ln/>
        </p:spPr>
        <p:txBody>
          <a:bodyPr wrap="square" rtlCol="0" anchor="t"/>
          <a:lstStyle/>
          <a:p>
            <a:pPr marL="0" indent="0">
              <a:buNone/>
            </a:pPr>
            <a:r>
              <a:rPr lang="en-US" sz="900" dirty="0">
                <a:solidFill>
                  <a:srgbClr val="64748B"/>
                </a:solidFill>
                <a:latin typeface="Calibri" pitchFamily="34" charset="0"/>
                <a:ea typeface="Calibri" pitchFamily="34" charset="-122"/>
                <a:cs typeface="Calibri" pitchFamily="34" charset="-120"/>
              </a:rPr>
              <a:t>Train nursing staff on prioritization protocols during high-occupancy shifts — specifically how to triage call-button responses and bathroom requests to minimize time-to-response.</a:t>
            </a:r>
            <a:endParaRPr lang="en-US" sz="900" dirty="0"/>
          </a:p>
          <a:p>
            <a:pPr marL="0" indent="0">
              <a:buNone/>
            </a:pPr>
            <a:endParaRPr lang="en-US" sz="900" dirty="0"/>
          </a:p>
          <a:p>
            <a:pPr marL="0" indent="0">
              <a:buNone/>
            </a:pPr>
            <a:r>
              <a:rPr lang="en-US" sz="900" dirty="0">
                <a:solidFill>
                  <a:srgbClr val="64748B"/>
                </a:solidFill>
                <a:latin typeface="Calibri" pitchFamily="34" charset="0"/>
                <a:ea typeface="Calibri" pitchFamily="34" charset="-122"/>
                <a:cs typeface="Calibri" pitchFamily="34" charset="-120"/>
              </a:rPr>
              <a:t>Data rationale: r = −0.791 between responsiveness and falls is the strongest signal in this dataset. Improving responsiveness even slightly during peak periods could yield significant fall reduction.</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0F7F9"/>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28090"/>
          </a:solidFill>
          <a:ln w="12700">
            <a:solidFill>
              <a:srgbClr val="028090"/>
            </a:solidFill>
            <a:prstDash val="solid"/>
          </a:ln>
        </p:spPr>
      </p:sp>
      <p:sp>
        <p:nvSpPr>
          <p:cNvPr id="3" name="Text 1"/>
          <p:cNvSpPr/>
          <p:nvPr/>
        </p:nvSpPr>
        <p:spPr>
          <a:xfrm>
            <a:off x="365760" y="73152"/>
            <a:ext cx="7315200" cy="347472"/>
          </a:xfrm>
          <a:prstGeom prst="rect">
            <a:avLst/>
          </a:prstGeom>
          <a:noFill/>
          <a:ln/>
        </p:spPr>
        <p:txBody>
          <a:bodyPr wrap="square" lIns="0" tIns="0" rIns="0" bIns="0" rtlCol="0" anchor="ctr"/>
          <a:lstStyle/>
          <a:p>
            <a:pPr marL="0" indent="0">
              <a:buNone/>
            </a:pPr>
            <a:r>
              <a:rPr lang="en-US" sz="1300" b="1" kern="0" spc="200" dirty="0">
                <a:solidFill>
                  <a:srgbClr val="FFFFFF"/>
                </a:solidFill>
                <a:latin typeface="Calibri" pitchFamily="34" charset="0"/>
                <a:ea typeface="Calibri" pitchFamily="34" charset="-122"/>
                <a:cs typeface="Calibri" pitchFamily="34" charset="-120"/>
              </a:rPr>
              <a:t>SUMMARY</a:t>
            </a:r>
            <a:endParaRPr lang="en-US" sz="1300" dirty="0"/>
          </a:p>
        </p:txBody>
      </p:sp>
      <p:sp>
        <p:nvSpPr>
          <p:cNvPr id="4" name="Shape 2"/>
          <p:cNvSpPr/>
          <p:nvPr/>
        </p:nvSpPr>
        <p:spPr>
          <a:xfrm>
            <a:off x="274320" y="594360"/>
            <a:ext cx="8595360" cy="530352"/>
          </a:xfrm>
          <a:prstGeom prst="roundRect">
            <a:avLst>
              <a:gd name="adj" fmla="val 12069"/>
            </a:avLst>
          </a:prstGeom>
          <a:solidFill>
            <a:srgbClr val="0D2137"/>
          </a:solidFill>
          <a:ln w="12700">
            <a:solidFill>
              <a:srgbClr val="0D2137"/>
            </a:solidFill>
            <a:prstDash val="solid"/>
          </a:ln>
        </p:spPr>
      </p:sp>
      <p:sp>
        <p:nvSpPr>
          <p:cNvPr id="5" name="Text 3"/>
          <p:cNvSpPr/>
          <p:nvPr/>
        </p:nvSpPr>
        <p:spPr>
          <a:xfrm>
            <a:off x="411480" y="612648"/>
            <a:ext cx="8321040" cy="493776"/>
          </a:xfrm>
          <a:prstGeom prst="rect">
            <a:avLst/>
          </a:prstGeom>
          <a:noFill/>
          <a:ln/>
        </p:spPr>
        <p:txBody>
          <a:bodyPr wrap="square" rtlCol="0" anchor="ctr"/>
          <a:lstStyle/>
          <a:p>
            <a:pPr marL="0" indent="0">
              <a:buNone/>
            </a:pPr>
            <a:r>
              <a:rPr lang="en-US" sz="950" b="1" dirty="0">
                <a:solidFill>
                  <a:srgbClr val="02C39A"/>
                </a:solidFill>
                <a:latin typeface="Calibri" pitchFamily="34" charset="0"/>
                <a:ea typeface="Calibri" pitchFamily="34" charset="-122"/>
                <a:cs typeface="Calibri" pitchFamily="34" charset="-120"/>
              </a:rPr>
              <a:t>Objective: </a:t>
            </a:r>
            <a:r>
              <a:rPr lang="en-US" sz="950" dirty="0">
                <a:solidFill>
                  <a:srgbClr val="FFFFFF"/>
                </a:solidFill>
                <a:latin typeface="Calibri" pitchFamily="34" charset="0"/>
                <a:ea typeface="Calibri" pitchFamily="34" charset="-122"/>
                <a:cs typeface="Calibri" pitchFamily="34" charset="-120"/>
              </a:rPr>
              <a:t>Analyze how hospital capacity affects staff responsiveness and patient safety across 2020–2024 using three interconnected KPIs.</a:t>
            </a:r>
            <a:endParaRPr lang="en-US" sz="950" dirty="0"/>
          </a:p>
        </p:txBody>
      </p:sp>
      <p:sp>
        <p:nvSpPr>
          <p:cNvPr id="6" name="Shape 4"/>
          <p:cNvSpPr/>
          <p:nvPr/>
        </p:nvSpPr>
        <p:spPr>
          <a:xfrm>
            <a:off x="274320" y="1234440"/>
            <a:ext cx="4114800" cy="1078992"/>
          </a:xfrm>
          <a:prstGeom prst="roundRect">
            <a:avLst>
              <a:gd name="adj" fmla="val 5932"/>
            </a:avLst>
          </a:prstGeom>
          <a:solidFill>
            <a:srgbClr val="FFFFFF"/>
          </a:solidFill>
          <a:ln w="12700">
            <a:solidFill>
              <a:srgbClr val="DDEAED"/>
            </a:solidFill>
            <a:prstDash val="solid"/>
          </a:ln>
          <a:effectLst>
            <a:outerShdw blurRad="101600" dist="38100" dir="2700000" algn="bl" rotWithShape="0">
              <a:srgbClr val="000000">
                <a:alpha val="13000"/>
              </a:srgbClr>
            </a:outerShdw>
          </a:effectLst>
        </p:spPr>
      </p:sp>
      <p:sp>
        <p:nvSpPr>
          <p:cNvPr id="7" name="Text 5"/>
          <p:cNvSpPr/>
          <p:nvPr/>
        </p:nvSpPr>
        <p:spPr>
          <a:xfrm>
            <a:off x="384048" y="1325880"/>
            <a:ext cx="914400" cy="868680"/>
          </a:xfrm>
          <a:prstGeom prst="rect">
            <a:avLst/>
          </a:prstGeom>
          <a:noFill/>
          <a:ln/>
        </p:spPr>
        <p:txBody>
          <a:bodyPr wrap="square" lIns="0" tIns="0" rIns="0" bIns="0" rtlCol="0" anchor="ctr"/>
          <a:lstStyle/>
          <a:p>
            <a:pPr marL="0" indent="0" algn="ctr">
              <a:buNone/>
            </a:pPr>
            <a:r>
              <a:rPr lang="en-US" sz="2000" b="1" dirty="0">
                <a:solidFill>
                  <a:srgbClr val="028090"/>
                </a:solidFill>
                <a:latin typeface="Cambria" pitchFamily="34" charset="0"/>
                <a:ea typeface="Cambria" pitchFamily="34" charset="-122"/>
                <a:cs typeface="Cambria" pitchFamily="34" charset="-120"/>
              </a:rPr>
              <a:t>95–97%</a:t>
            </a:r>
            <a:endParaRPr lang="en-US" sz="2000" dirty="0"/>
          </a:p>
        </p:txBody>
      </p:sp>
      <p:sp>
        <p:nvSpPr>
          <p:cNvPr id="8" name="Shape 6"/>
          <p:cNvSpPr/>
          <p:nvPr/>
        </p:nvSpPr>
        <p:spPr>
          <a:xfrm>
            <a:off x="1353312" y="1371600"/>
            <a:ext cx="0" cy="777240"/>
          </a:xfrm>
          <a:prstGeom prst="line">
            <a:avLst/>
          </a:prstGeom>
          <a:noFill/>
          <a:ln w="19050">
            <a:solidFill>
              <a:srgbClr val="E2EDF0"/>
            </a:solidFill>
            <a:prstDash val="solid"/>
          </a:ln>
        </p:spPr>
      </p:sp>
      <p:sp>
        <p:nvSpPr>
          <p:cNvPr id="9" name="Text 7"/>
          <p:cNvSpPr/>
          <p:nvPr/>
        </p:nvSpPr>
        <p:spPr>
          <a:xfrm>
            <a:off x="1481328" y="1307592"/>
            <a:ext cx="2788920" cy="274320"/>
          </a:xfrm>
          <a:prstGeom prst="rect">
            <a:avLst/>
          </a:prstGeom>
          <a:noFill/>
          <a:ln/>
        </p:spPr>
        <p:txBody>
          <a:bodyPr wrap="square" lIns="0" tIns="0" rIns="0" bIns="0" rtlCol="0" anchor="ctr"/>
          <a:lstStyle/>
          <a:p>
            <a:pPr marL="0" indent="0">
              <a:buNone/>
            </a:pPr>
            <a:r>
              <a:rPr lang="en-US" sz="950" b="1" dirty="0">
                <a:solidFill>
                  <a:srgbClr val="0D2137"/>
                </a:solidFill>
                <a:latin typeface="Calibri" pitchFamily="34" charset="0"/>
                <a:ea typeface="Calibri" pitchFamily="34" charset="-122"/>
                <a:cs typeface="Calibri" pitchFamily="34" charset="-120"/>
              </a:rPr>
              <a:t>Bed Occupancy</a:t>
            </a:r>
            <a:endParaRPr lang="en-US" sz="950" dirty="0"/>
          </a:p>
        </p:txBody>
      </p:sp>
      <p:sp>
        <p:nvSpPr>
          <p:cNvPr id="10" name="Text 8"/>
          <p:cNvSpPr/>
          <p:nvPr/>
        </p:nvSpPr>
        <p:spPr>
          <a:xfrm>
            <a:off x="1481328" y="1581912"/>
            <a:ext cx="2788920" cy="658368"/>
          </a:xfrm>
          <a:prstGeom prst="rect">
            <a:avLst/>
          </a:prstGeom>
          <a:noFill/>
          <a:ln/>
        </p:spPr>
        <p:txBody>
          <a:bodyPr wrap="square" rtlCol="0" anchor="t"/>
          <a:lstStyle/>
          <a:p>
            <a:pPr marL="0" indent="0">
              <a:buNone/>
            </a:pPr>
            <a:r>
              <a:rPr lang="en-US" sz="850" dirty="0">
                <a:solidFill>
                  <a:srgbClr val="64748B"/>
                </a:solidFill>
                <a:latin typeface="Calibri" pitchFamily="34" charset="0"/>
                <a:ea typeface="Calibri" pitchFamily="34" charset="-122"/>
                <a:cs typeface="Calibri" pitchFamily="34" charset="-120"/>
              </a:rPr>
              <a:t>Consistently at or above operational ceiling — no buffer for surges. National average is 65–75%.</a:t>
            </a:r>
            <a:endParaRPr lang="en-US" sz="850" dirty="0"/>
          </a:p>
        </p:txBody>
      </p:sp>
      <p:sp>
        <p:nvSpPr>
          <p:cNvPr id="11" name="Shape 9"/>
          <p:cNvSpPr/>
          <p:nvPr/>
        </p:nvSpPr>
        <p:spPr>
          <a:xfrm>
            <a:off x="4617720" y="1234440"/>
            <a:ext cx="4114800" cy="1078992"/>
          </a:xfrm>
          <a:prstGeom prst="roundRect">
            <a:avLst>
              <a:gd name="adj" fmla="val 5932"/>
            </a:avLst>
          </a:prstGeom>
          <a:solidFill>
            <a:srgbClr val="FFFFFF"/>
          </a:solidFill>
          <a:ln w="12700">
            <a:solidFill>
              <a:srgbClr val="DDEAED"/>
            </a:solidFill>
            <a:prstDash val="solid"/>
          </a:ln>
          <a:effectLst>
            <a:outerShdw blurRad="101600" dist="38100" dir="2700000" algn="bl" rotWithShape="0">
              <a:srgbClr val="000000">
                <a:alpha val="13000"/>
              </a:srgbClr>
            </a:outerShdw>
          </a:effectLst>
        </p:spPr>
      </p:sp>
      <p:sp>
        <p:nvSpPr>
          <p:cNvPr id="12" name="Text 10"/>
          <p:cNvSpPr/>
          <p:nvPr/>
        </p:nvSpPr>
        <p:spPr>
          <a:xfrm>
            <a:off x="4727448" y="1325880"/>
            <a:ext cx="914400" cy="868680"/>
          </a:xfrm>
          <a:prstGeom prst="rect">
            <a:avLst/>
          </a:prstGeom>
          <a:noFill/>
          <a:ln/>
        </p:spPr>
        <p:txBody>
          <a:bodyPr wrap="square" lIns="0" tIns="0" rIns="0" bIns="0" rtlCol="0" anchor="ctr"/>
          <a:lstStyle/>
          <a:p>
            <a:pPr marL="0" indent="0" algn="ctr">
              <a:buNone/>
            </a:pPr>
            <a:r>
              <a:rPr lang="en-US" sz="2000" b="1" dirty="0">
                <a:solidFill>
                  <a:srgbClr val="0D2137"/>
                </a:solidFill>
                <a:latin typeface="Cambria" pitchFamily="34" charset="0"/>
                <a:ea typeface="Cambria" pitchFamily="34" charset="-122"/>
                <a:cs typeface="Cambria" pitchFamily="34" charset="-120"/>
              </a:rPr>
              <a:t>60.6%</a:t>
            </a:r>
            <a:endParaRPr lang="en-US" sz="2000" dirty="0"/>
          </a:p>
        </p:txBody>
      </p:sp>
      <p:sp>
        <p:nvSpPr>
          <p:cNvPr id="13" name="Shape 11"/>
          <p:cNvSpPr/>
          <p:nvPr/>
        </p:nvSpPr>
        <p:spPr>
          <a:xfrm>
            <a:off x="5696712" y="1371600"/>
            <a:ext cx="0" cy="777240"/>
          </a:xfrm>
          <a:prstGeom prst="line">
            <a:avLst/>
          </a:prstGeom>
          <a:noFill/>
          <a:ln w="19050">
            <a:solidFill>
              <a:srgbClr val="E2EDF0"/>
            </a:solidFill>
            <a:prstDash val="solid"/>
          </a:ln>
        </p:spPr>
      </p:sp>
      <p:sp>
        <p:nvSpPr>
          <p:cNvPr id="14" name="Text 12"/>
          <p:cNvSpPr/>
          <p:nvPr/>
        </p:nvSpPr>
        <p:spPr>
          <a:xfrm>
            <a:off x="5824728" y="1307592"/>
            <a:ext cx="2788920" cy="274320"/>
          </a:xfrm>
          <a:prstGeom prst="rect">
            <a:avLst/>
          </a:prstGeom>
          <a:noFill/>
          <a:ln/>
        </p:spPr>
        <p:txBody>
          <a:bodyPr wrap="square" lIns="0" tIns="0" rIns="0" bIns="0" rtlCol="0" anchor="ctr"/>
          <a:lstStyle/>
          <a:p>
            <a:pPr marL="0" indent="0">
              <a:buNone/>
            </a:pPr>
            <a:r>
              <a:rPr lang="en-US" sz="950" b="1" dirty="0">
                <a:solidFill>
                  <a:srgbClr val="0D2137"/>
                </a:solidFill>
                <a:latin typeface="Calibri" pitchFamily="34" charset="0"/>
                <a:ea typeface="Calibri" pitchFamily="34" charset="-122"/>
                <a:cs typeface="Calibri" pitchFamily="34" charset="-120"/>
              </a:rPr>
              <a:t>Staff Responsiveness</a:t>
            </a:r>
            <a:endParaRPr lang="en-US" sz="950" dirty="0"/>
          </a:p>
        </p:txBody>
      </p:sp>
      <p:sp>
        <p:nvSpPr>
          <p:cNvPr id="15" name="Text 13"/>
          <p:cNvSpPr/>
          <p:nvPr/>
        </p:nvSpPr>
        <p:spPr>
          <a:xfrm>
            <a:off x="5824728" y="1581912"/>
            <a:ext cx="2788920" cy="658368"/>
          </a:xfrm>
          <a:prstGeom prst="rect">
            <a:avLst/>
          </a:prstGeom>
          <a:noFill/>
          <a:ln/>
        </p:spPr>
        <p:txBody>
          <a:bodyPr wrap="square" rtlCol="0" anchor="t"/>
          <a:lstStyle/>
          <a:p>
            <a:pPr marL="0" indent="0">
              <a:buNone/>
            </a:pPr>
            <a:r>
              <a:rPr lang="en-US" sz="850" dirty="0">
                <a:solidFill>
                  <a:srgbClr val="64748B"/>
                </a:solidFill>
                <a:latin typeface="Calibri" pitchFamily="34" charset="0"/>
                <a:ea typeface="Calibri" pitchFamily="34" charset="-122"/>
                <a:cs typeface="Calibri" pitchFamily="34" charset="-120"/>
              </a:rPr>
              <a:t>Hit a critical low in 2022 — 7% below the 65% HCAHPS benchmark. Partial recovery to 64.4% by 2024.</a:t>
            </a:r>
            <a:endParaRPr lang="en-US" sz="850" dirty="0"/>
          </a:p>
        </p:txBody>
      </p:sp>
      <p:sp>
        <p:nvSpPr>
          <p:cNvPr id="16" name="Shape 14"/>
          <p:cNvSpPr/>
          <p:nvPr/>
        </p:nvSpPr>
        <p:spPr>
          <a:xfrm>
            <a:off x="274320" y="2423160"/>
            <a:ext cx="4114800" cy="1078992"/>
          </a:xfrm>
          <a:prstGeom prst="roundRect">
            <a:avLst>
              <a:gd name="adj" fmla="val 5932"/>
            </a:avLst>
          </a:prstGeom>
          <a:solidFill>
            <a:srgbClr val="FFFFFF"/>
          </a:solidFill>
          <a:ln w="12700">
            <a:solidFill>
              <a:srgbClr val="DDEAED"/>
            </a:solidFill>
            <a:prstDash val="solid"/>
          </a:ln>
          <a:effectLst>
            <a:outerShdw blurRad="101600" dist="38100" dir="2700000" algn="bl" rotWithShape="0">
              <a:srgbClr val="000000">
                <a:alpha val="13000"/>
              </a:srgbClr>
            </a:outerShdw>
          </a:effectLst>
        </p:spPr>
      </p:sp>
      <p:sp>
        <p:nvSpPr>
          <p:cNvPr id="17" name="Text 15"/>
          <p:cNvSpPr/>
          <p:nvPr/>
        </p:nvSpPr>
        <p:spPr>
          <a:xfrm>
            <a:off x="384048" y="2514600"/>
            <a:ext cx="914400" cy="868680"/>
          </a:xfrm>
          <a:prstGeom prst="rect">
            <a:avLst/>
          </a:prstGeom>
          <a:noFill/>
          <a:ln/>
        </p:spPr>
        <p:txBody>
          <a:bodyPr wrap="square" lIns="0" tIns="0" rIns="0" bIns="0" rtlCol="0" anchor="ctr"/>
          <a:lstStyle/>
          <a:p>
            <a:pPr marL="0" indent="0" algn="ctr">
              <a:buNone/>
            </a:pPr>
            <a:r>
              <a:rPr lang="en-US" sz="2000" b="1" dirty="0">
                <a:solidFill>
                  <a:srgbClr val="F4845F"/>
                </a:solidFill>
                <a:latin typeface="Cambria" pitchFamily="34" charset="0"/>
                <a:ea typeface="Cambria" pitchFamily="34" charset="-122"/>
                <a:cs typeface="Cambria" pitchFamily="34" charset="-120"/>
              </a:rPr>
              <a:t>2.82 peak</a:t>
            </a:r>
            <a:endParaRPr lang="en-US" sz="2000" dirty="0"/>
          </a:p>
        </p:txBody>
      </p:sp>
      <p:sp>
        <p:nvSpPr>
          <p:cNvPr id="18" name="Shape 16"/>
          <p:cNvSpPr/>
          <p:nvPr/>
        </p:nvSpPr>
        <p:spPr>
          <a:xfrm>
            <a:off x="1353312" y="2560320"/>
            <a:ext cx="0" cy="777240"/>
          </a:xfrm>
          <a:prstGeom prst="line">
            <a:avLst/>
          </a:prstGeom>
          <a:noFill/>
          <a:ln w="19050">
            <a:solidFill>
              <a:srgbClr val="E2EDF0"/>
            </a:solidFill>
            <a:prstDash val="solid"/>
          </a:ln>
        </p:spPr>
      </p:sp>
      <p:sp>
        <p:nvSpPr>
          <p:cNvPr id="19" name="Text 17"/>
          <p:cNvSpPr/>
          <p:nvPr/>
        </p:nvSpPr>
        <p:spPr>
          <a:xfrm>
            <a:off x="1481328" y="2496312"/>
            <a:ext cx="2788920" cy="274320"/>
          </a:xfrm>
          <a:prstGeom prst="rect">
            <a:avLst/>
          </a:prstGeom>
          <a:noFill/>
          <a:ln/>
        </p:spPr>
        <p:txBody>
          <a:bodyPr wrap="square" lIns="0" tIns="0" rIns="0" bIns="0" rtlCol="0" anchor="ctr"/>
          <a:lstStyle/>
          <a:p>
            <a:pPr marL="0" indent="0">
              <a:buNone/>
            </a:pPr>
            <a:r>
              <a:rPr lang="en-US" sz="950" b="1" dirty="0">
                <a:solidFill>
                  <a:srgbClr val="0D2137"/>
                </a:solidFill>
                <a:latin typeface="Calibri" pitchFamily="34" charset="0"/>
                <a:ea typeface="Calibri" pitchFamily="34" charset="-122"/>
                <a:cs typeface="Calibri" pitchFamily="34" charset="-120"/>
              </a:rPr>
              <a:t>Unassisted Falls</a:t>
            </a:r>
            <a:endParaRPr lang="en-US" sz="950" dirty="0"/>
          </a:p>
        </p:txBody>
      </p:sp>
      <p:sp>
        <p:nvSpPr>
          <p:cNvPr id="20" name="Text 18"/>
          <p:cNvSpPr/>
          <p:nvPr/>
        </p:nvSpPr>
        <p:spPr>
          <a:xfrm>
            <a:off x="1481328" y="2770632"/>
            <a:ext cx="2788920" cy="658368"/>
          </a:xfrm>
          <a:prstGeom prst="rect">
            <a:avLst/>
          </a:prstGeom>
          <a:noFill/>
          <a:ln/>
        </p:spPr>
        <p:txBody>
          <a:bodyPr wrap="square" rtlCol="0" anchor="t"/>
          <a:lstStyle/>
          <a:p>
            <a:pPr marL="0" indent="0">
              <a:buNone/>
            </a:pPr>
            <a:r>
              <a:rPr lang="en-US" sz="850" dirty="0">
                <a:solidFill>
                  <a:srgbClr val="64748B"/>
                </a:solidFill>
                <a:latin typeface="Calibri" pitchFamily="34" charset="0"/>
                <a:ea typeface="Calibri" pitchFamily="34" charset="-122"/>
                <a:cs typeface="Calibri" pitchFamily="34" charset="-120"/>
              </a:rPr>
              <a:t>Worst in 2022–23, aligning precisely with the lowest responsiveness period. Improved slightly in 2024.</a:t>
            </a:r>
            <a:endParaRPr lang="en-US" sz="850" dirty="0"/>
          </a:p>
        </p:txBody>
      </p:sp>
      <p:sp>
        <p:nvSpPr>
          <p:cNvPr id="21" name="Shape 19"/>
          <p:cNvSpPr/>
          <p:nvPr/>
        </p:nvSpPr>
        <p:spPr>
          <a:xfrm>
            <a:off x="4617720" y="2423160"/>
            <a:ext cx="4114800" cy="1078992"/>
          </a:xfrm>
          <a:prstGeom prst="roundRect">
            <a:avLst>
              <a:gd name="adj" fmla="val 5932"/>
            </a:avLst>
          </a:prstGeom>
          <a:solidFill>
            <a:srgbClr val="FFFFFF"/>
          </a:solidFill>
          <a:ln w="12700">
            <a:solidFill>
              <a:srgbClr val="DDEAED"/>
            </a:solidFill>
            <a:prstDash val="solid"/>
          </a:ln>
          <a:effectLst>
            <a:outerShdw blurRad="101600" dist="38100" dir="2700000" algn="bl" rotWithShape="0">
              <a:srgbClr val="000000">
                <a:alpha val="13000"/>
              </a:srgbClr>
            </a:outerShdw>
          </a:effectLst>
        </p:spPr>
      </p:sp>
      <p:sp>
        <p:nvSpPr>
          <p:cNvPr id="22" name="Text 20"/>
          <p:cNvSpPr/>
          <p:nvPr/>
        </p:nvSpPr>
        <p:spPr>
          <a:xfrm>
            <a:off x="4727448" y="2514600"/>
            <a:ext cx="914400" cy="868680"/>
          </a:xfrm>
          <a:prstGeom prst="rect">
            <a:avLst/>
          </a:prstGeom>
          <a:noFill/>
          <a:ln/>
        </p:spPr>
        <p:txBody>
          <a:bodyPr wrap="square" lIns="0" tIns="0" rIns="0" bIns="0" rtlCol="0" anchor="ctr"/>
          <a:lstStyle/>
          <a:p>
            <a:pPr marL="0" indent="0" algn="ctr">
              <a:buNone/>
            </a:pPr>
            <a:r>
              <a:rPr lang="en-US" sz="2000" b="1" dirty="0">
                <a:solidFill>
                  <a:srgbClr val="C0392B"/>
                </a:solidFill>
                <a:latin typeface="Cambria" pitchFamily="34" charset="0"/>
                <a:ea typeface="Cambria" pitchFamily="34" charset="-122"/>
                <a:cs typeface="Cambria" pitchFamily="34" charset="-120"/>
              </a:rPr>
              <a:t>−0.791</a:t>
            </a:r>
            <a:endParaRPr lang="en-US" sz="2000" dirty="0"/>
          </a:p>
        </p:txBody>
      </p:sp>
      <p:sp>
        <p:nvSpPr>
          <p:cNvPr id="23" name="Shape 21"/>
          <p:cNvSpPr/>
          <p:nvPr/>
        </p:nvSpPr>
        <p:spPr>
          <a:xfrm>
            <a:off x="5696712" y="2560320"/>
            <a:ext cx="0" cy="777240"/>
          </a:xfrm>
          <a:prstGeom prst="line">
            <a:avLst/>
          </a:prstGeom>
          <a:noFill/>
          <a:ln w="19050">
            <a:solidFill>
              <a:srgbClr val="E2EDF0"/>
            </a:solidFill>
            <a:prstDash val="solid"/>
          </a:ln>
        </p:spPr>
      </p:sp>
      <p:sp>
        <p:nvSpPr>
          <p:cNvPr id="24" name="Text 22"/>
          <p:cNvSpPr/>
          <p:nvPr/>
        </p:nvSpPr>
        <p:spPr>
          <a:xfrm>
            <a:off x="5824728" y="2496312"/>
            <a:ext cx="2788920" cy="274320"/>
          </a:xfrm>
          <a:prstGeom prst="rect">
            <a:avLst/>
          </a:prstGeom>
          <a:noFill/>
          <a:ln/>
        </p:spPr>
        <p:txBody>
          <a:bodyPr wrap="square" lIns="0" tIns="0" rIns="0" bIns="0" rtlCol="0" anchor="ctr"/>
          <a:lstStyle/>
          <a:p>
            <a:pPr marL="0" indent="0">
              <a:buNone/>
            </a:pPr>
            <a:r>
              <a:rPr lang="en-US" sz="950" b="1" dirty="0">
                <a:solidFill>
                  <a:srgbClr val="0D2137"/>
                </a:solidFill>
                <a:latin typeface="Calibri" pitchFamily="34" charset="0"/>
                <a:ea typeface="Calibri" pitchFamily="34" charset="-122"/>
                <a:cs typeface="Calibri" pitchFamily="34" charset="-120"/>
              </a:rPr>
              <a:t>Correlation (r)</a:t>
            </a:r>
            <a:endParaRPr lang="en-US" sz="950" dirty="0"/>
          </a:p>
        </p:txBody>
      </p:sp>
      <p:sp>
        <p:nvSpPr>
          <p:cNvPr id="25" name="Text 23"/>
          <p:cNvSpPr/>
          <p:nvPr/>
        </p:nvSpPr>
        <p:spPr>
          <a:xfrm>
            <a:off x="5824728" y="2770632"/>
            <a:ext cx="2788920" cy="658368"/>
          </a:xfrm>
          <a:prstGeom prst="rect">
            <a:avLst/>
          </a:prstGeom>
          <a:noFill/>
          <a:ln/>
        </p:spPr>
        <p:txBody>
          <a:bodyPr wrap="square" rtlCol="0" anchor="t"/>
          <a:lstStyle/>
          <a:p>
            <a:pPr marL="0" indent="0">
              <a:buNone/>
            </a:pPr>
            <a:r>
              <a:rPr lang="en-US" sz="850" dirty="0">
                <a:solidFill>
                  <a:srgbClr val="64748B"/>
                </a:solidFill>
                <a:latin typeface="Calibri" pitchFamily="34" charset="0"/>
                <a:ea typeface="Calibri" pitchFamily="34" charset="-122"/>
                <a:cs typeface="Calibri" pitchFamily="34" charset="-120"/>
              </a:rPr>
              <a:t>Strongest signal: responsiveness and falls are tightly linked. When one drops, the other spikes — predictably.</a:t>
            </a:r>
            <a:endParaRPr lang="en-US" sz="850" dirty="0"/>
          </a:p>
        </p:txBody>
      </p:sp>
      <p:sp>
        <p:nvSpPr>
          <p:cNvPr id="26" name="Shape 24"/>
          <p:cNvSpPr/>
          <p:nvPr/>
        </p:nvSpPr>
        <p:spPr>
          <a:xfrm>
            <a:off x="274320" y="3657600"/>
            <a:ext cx="8595360" cy="1188720"/>
          </a:xfrm>
          <a:prstGeom prst="roundRect">
            <a:avLst>
              <a:gd name="adj" fmla="val 6154"/>
            </a:avLst>
          </a:prstGeom>
          <a:solidFill>
            <a:srgbClr val="028090"/>
          </a:solidFill>
          <a:ln w="12700">
            <a:solidFill>
              <a:srgbClr val="028090"/>
            </a:solidFill>
            <a:prstDash val="solid"/>
          </a:ln>
        </p:spPr>
      </p:sp>
      <p:sp>
        <p:nvSpPr>
          <p:cNvPr id="27" name="Text 25"/>
          <p:cNvSpPr/>
          <p:nvPr/>
        </p:nvSpPr>
        <p:spPr>
          <a:xfrm>
            <a:off x="411480" y="3685032"/>
            <a:ext cx="8321040" cy="1143000"/>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Conclusion: </a:t>
            </a:r>
            <a:r>
              <a:rPr lang="en-US" sz="950" dirty="0">
                <a:solidFill>
                  <a:srgbClr val="D0F0F4"/>
                </a:solidFill>
                <a:latin typeface="Calibri" pitchFamily="34" charset="0"/>
                <a:ea typeface="Calibri" pitchFamily="34" charset="-122"/>
                <a:cs typeface="Calibri" pitchFamily="34" charset="-120"/>
              </a:rPr>
              <a:t>This analysis confirms that bed occupancy, staff responsiveness, and patient falls are not independent events — they form a chain reaction. Reducing falls requires breaking this chain upstream: through predictive staffing, proactive rounding protocols, and targeted training during high-risk periods. These interventions are low-cost, data-backed, and implementable without capital investment.</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2137"/>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D2137"/>
          </a:solidFill>
          <a:ln w="12700">
            <a:solidFill>
              <a:srgbClr val="0D2137"/>
            </a:solidFill>
            <a:prstDash val="solid"/>
          </a:ln>
        </p:spPr>
      </p:sp>
      <p:sp>
        <p:nvSpPr>
          <p:cNvPr id="3" name="Shape 1"/>
          <p:cNvSpPr/>
          <p:nvPr/>
        </p:nvSpPr>
        <p:spPr>
          <a:xfrm>
            <a:off x="0" y="3474720"/>
            <a:ext cx="9144000" cy="1668780"/>
          </a:xfrm>
          <a:prstGeom prst="rect">
            <a:avLst/>
          </a:prstGeom>
          <a:solidFill>
            <a:srgbClr val="028090"/>
          </a:solidFill>
          <a:ln w="12700">
            <a:solidFill>
              <a:srgbClr val="028090"/>
            </a:solidFill>
            <a:prstDash val="solid"/>
          </a:ln>
        </p:spPr>
      </p:sp>
      <p:sp>
        <p:nvSpPr>
          <p:cNvPr id="4" name="Shape 2"/>
          <p:cNvSpPr/>
          <p:nvPr/>
        </p:nvSpPr>
        <p:spPr>
          <a:xfrm>
            <a:off x="0" y="4206240"/>
            <a:ext cx="9144000" cy="937260"/>
          </a:xfrm>
          <a:prstGeom prst="rect">
            <a:avLst/>
          </a:prstGeom>
          <a:solidFill>
            <a:srgbClr val="02C39A"/>
          </a:solidFill>
          <a:ln w="12700">
            <a:solidFill>
              <a:srgbClr val="02C39A"/>
            </a:solidFill>
            <a:prstDash val="solid"/>
          </a:ln>
        </p:spPr>
      </p:sp>
      <p:sp>
        <p:nvSpPr>
          <p:cNvPr id="5" name="Text 3"/>
          <p:cNvSpPr/>
          <p:nvPr/>
        </p:nvSpPr>
        <p:spPr>
          <a:xfrm>
            <a:off x="457200" y="640080"/>
            <a:ext cx="8229600" cy="1188720"/>
          </a:xfrm>
          <a:prstGeom prst="rect">
            <a:avLst/>
          </a:prstGeom>
          <a:noFill/>
          <a:ln/>
        </p:spPr>
        <p:txBody>
          <a:bodyPr wrap="square" rtlCol="0" anchor="ctr"/>
          <a:lstStyle/>
          <a:p>
            <a:pPr marL="0" indent="0" algn="ctr">
              <a:buNone/>
            </a:pPr>
            <a:r>
              <a:rPr lang="en-US" sz="5800" b="1" kern="0" spc="600" dirty="0">
                <a:solidFill>
                  <a:srgbClr val="FFFFFF"/>
                </a:solidFill>
                <a:latin typeface="Cambria" pitchFamily="34" charset="0"/>
                <a:ea typeface="Cambria" pitchFamily="34" charset="-122"/>
                <a:cs typeface="Cambria" pitchFamily="34" charset="-120"/>
              </a:rPr>
              <a:t>THANK YOU</a:t>
            </a:r>
            <a:endParaRPr lang="en-US" sz="5800" dirty="0"/>
          </a:p>
        </p:txBody>
      </p:sp>
      <p:sp>
        <p:nvSpPr>
          <p:cNvPr id="6" name="Shape 4"/>
          <p:cNvSpPr/>
          <p:nvPr/>
        </p:nvSpPr>
        <p:spPr>
          <a:xfrm>
            <a:off x="3200400" y="1920240"/>
            <a:ext cx="2743200" cy="0"/>
          </a:xfrm>
          <a:prstGeom prst="line">
            <a:avLst/>
          </a:prstGeom>
          <a:noFill/>
          <a:ln w="25400">
            <a:solidFill>
              <a:srgbClr val="028090"/>
            </a:solidFill>
            <a:prstDash val="solid"/>
          </a:ln>
        </p:spPr>
      </p:sp>
      <p:sp>
        <p:nvSpPr>
          <p:cNvPr id="7" name="Text 5"/>
          <p:cNvSpPr/>
          <p:nvPr/>
        </p:nvSpPr>
        <p:spPr>
          <a:xfrm>
            <a:off x="457200" y="2057400"/>
            <a:ext cx="8229600" cy="475488"/>
          </a:xfrm>
          <a:prstGeom prst="rect">
            <a:avLst/>
          </a:prstGeom>
          <a:noFill/>
          <a:ln/>
        </p:spPr>
        <p:txBody>
          <a:bodyPr wrap="square" lIns="0" tIns="0" rIns="0" bIns="0" rtlCol="0" anchor="ctr"/>
          <a:lstStyle/>
          <a:p>
            <a:pPr marL="0" indent="0" algn="ctr">
              <a:buNone/>
            </a:pPr>
            <a:r>
              <a:rPr lang="en-US" sz="1800" b="1" dirty="0">
                <a:solidFill>
                  <a:srgbClr val="02C39A"/>
                </a:solidFill>
                <a:latin typeface="Calibri" pitchFamily="34" charset="0"/>
                <a:ea typeface="Calibri" pitchFamily="34" charset="-122"/>
                <a:cs typeface="Calibri" pitchFamily="34" charset="-120"/>
              </a:rPr>
              <a:t>Lisha Bhowmik</a:t>
            </a:r>
            <a:endParaRPr lang="en-US" sz="1800" dirty="0"/>
          </a:p>
        </p:txBody>
      </p:sp>
      <p:sp>
        <p:nvSpPr>
          <p:cNvPr id="8" name="Text 6"/>
          <p:cNvSpPr/>
          <p:nvPr/>
        </p:nvSpPr>
        <p:spPr>
          <a:xfrm>
            <a:off x="457200" y="2542032"/>
            <a:ext cx="8229600" cy="347472"/>
          </a:xfrm>
          <a:prstGeom prst="rect">
            <a:avLst/>
          </a:prstGeom>
          <a:noFill/>
          <a:ln/>
        </p:spPr>
        <p:txBody>
          <a:bodyPr wrap="square" lIns="0" tIns="0" rIns="0" bIns="0" rtlCol="0" anchor="ctr"/>
          <a:lstStyle/>
          <a:p>
            <a:pPr marL="0" indent="0" algn="ctr">
              <a:buNone/>
            </a:pPr>
            <a:r>
              <a:rPr lang="en-US" sz="1200" dirty="0">
                <a:solidFill>
                  <a:srgbClr val="AECDD4"/>
                </a:solidFill>
                <a:latin typeface="Calibri" pitchFamily="34" charset="0"/>
                <a:ea typeface="Calibri" pitchFamily="34" charset="-122"/>
                <a:cs typeface="Calibri" pitchFamily="34" charset="-120"/>
              </a:rPr>
              <a:t>BBA Graduate · Data &amp; Business Analyst</a:t>
            </a:r>
            <a:endParaRPr lang="en-US" sz="1200" dirty="0"/>
          </a:p>
        </p:txBody>
      </p:sp>
      <p:sp>
        <p:nvSpPr>
          <p:cNvPr id="9" name="Text 7"/>
          <p:cNvSpPr/>
          <p:nvPr/>
        </p:nvSpPr>
        <p:spPr>
          <a:xfrm>
            <a:off x="457200" y="3547872"/>
            <a:ext cx="8229600" cy="365760"/>
          </a:xfrm>
          <a:prstGeom prst="rect">
            <a:avLst/>
          </a:prstGeom>
          <a:noFill/>
          <a:ln/>
        </p:spPr>
        <p:txBody>
          <a:bodyPr wrap="square" lIns="0" tIns="0" rIns="0" bIns="0" rtlCol="0" anchor="ctr"/>
          <a:lstStyle/>
          <a:p>
            <a:pPr marL="0" indent="0" algn="ctr">
              <a:buNone/>
            </a:pPr>
            <a:r>
              <a:rPr lang="en-US" sz="1300" i="1" dirty="0">
                <a:solidFill>
                  <a:srgbClr val="FFFFFF"/>
                </a:solidFill>
                <a:latin typeface="Calibri" pitchFamily="34" charset="0"/>
                <a:ea typeface="Calibri" pitchFamily="34" charset="-122"/>
                <a:cs typeface="Calibri" pitchFamily="34" charset="-120"/>
              </a:rPr>
              <a:t>Open to questions and discussion</a:t>
            </a:r>
            <a:endParaRPr lang="en-US" sz="1300" dirty="0"/>
          </a:p>
        </p:txBody>
      </p:sp>
      <p:sp>
        <p:nvSpPr>
          <p:cNvPr id="10" name="Text 8"/>
          <p:cNvSpPr/>
          <p:nvPr/>
        </p:nvSpPr>
        <p:spPr>
          <a:xfrm>
            <a:off x="457200" y="4297680"/>
            <a:ext cx="8229600" cy="320040"/>
          </a:xfrm>
          <a:prstGeom prst="rect">
            <a:avLst/>
          </a:prstGeom>
          <a:noFill/>
          <a:ln/>
        </p:spPr>
        <p:txBody>
          <a:bodyPr wrap="square" lIns="0" tIns="0" rIns="0" bIns="0" rtlCol="0" anchor="ctr"/>
          <a:lstStyle/>
          <a:p>
            <a:pPr marL="0" indent="0" algn="ctr">
              <a:buNone/>
            </a:pPr>
            <a:r>
              <a:rPr lang="en-US" sz="900" dirty="0">
                <a:solidFill>
                  <a:srgbClr val="0D2137"/>
                </a:solidFill>
                <a:latin typeface="Calibri" pitchFamily="34" charset="0"/>
                <a:ea typeface="Calibri" pitchFamily="34" charset="-122"/>
                <a:cs typeface="Calibri" pitchFamily="34" charset="-120"/>
              </a:rPr>
              <a:t>Lowell General Hospital KPI Analysis  |  Python · Pandas · SciPy · Matplotlib  |  2020–2024</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1933</Words>
  <Application>Microsoft Office PowerPoint</Application>
  <PresentationFormat>On-screen Show (16:9)</PresentationFormat>
  <Paragraphs>148</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Lowell General Hospital – KPI Analysis</dc:title>
  <dc:subject>PptxGenJS Presentation</dc:subject>
  <dc:creator>Lisha Bhowmik</dc:creator>
  <cp:lastModifiedBy>Lisha Bhowmik</cp:lastModifiedBy>
  <cp:revision>2</cp:revision>
  <dcterms:created xsi:type="dcterms:W3CDTF">2026-06-27T06:10:30Z</dcterms:created>
  <dcterms:modified xsi:type="dcterms:W3CDTF">2026-06-27T06:13:26Z</dcterms:modified>
</cp:coreProperties>
</file>